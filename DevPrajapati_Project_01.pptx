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057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0:00-1:20 (80 s)
"Meet Sunita. She is hypothetical, we made her up, but her situation is common enough to matter. She is 42, a farm worker, with a cough that has lasted three weeks, weight loss and evening fevers. She goes to her nearest health centre. It could be tuberculosis, pneumonia or something else, but the centre has no radiologist, so even reading a chest X-ray means waiting. Her records are on paper or in separate systems, and every referral means another journey she may struggle to make.
This is where India's health system strains: late detection, too few specialists, and information that does not travel with the patient. Our professor's brief asks us to reduce diagnostic errors, improve outcomes and optimise resources. We treat it as a question about India's whole health system, not one hospital. So our central question is: how can AI help India's healthcare system detect disease earlier, support safer and more personalised decisions, and use limited resources more effectively? We chose early TB detection as our starting use case. First, let's see why the problem persists."
TRANSITION: "Why does this keep happening? Over to my teammate for the evidence."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1:20-2:55 (95 s)
"Why does this persist? We use TB as our test case because the evidence is strong. The WHO Global TB Report 2025 says India has about 25 percent of the world's TB cases and about 32 percent of drug-resistant TB. To be fair, incidence has fallen 21 percent since 2015. But around one lakh estimated cases in 2024 were still not reaching the national programme, so people like Sunita can still be missed.
Part of the reason is access. The Ministry's Rural Health Statistics 2021 to 22, with data up to March 2022, show a 79.5 percent shortfall of specialists at rural community health centres, and only 541 of 5,480 centres had all four basic specialists. That data is a few years old, but it describes a structural problem.
The good news: India has built a records backbone. The Ayushman Bharat Digital Mission reports over 104 crore health records linked to over 93 crore ABHA accounts as of July 2026. The Ministry also credits AI-enabled handheld X-rays for finding TB cases, and WHO has recommended computer-aided X-ray reading for TB screening since 2021.
So the pieces exist separately. The gap, and this is our analysis, is that we found no public evidence of them working as one connected loop for triage, referral, follow-up and resource planning. That is what we propose."
TRANSITION: "My teammate will show how we connect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2:55-4:30 (95 s)
"Our solution is one connected loop, not three separate tools. Read it left to right. One: data, such as X-rays, symptoms, lab results and records, linked to the patient's ABHA ID with consent. Two: a quality and security layer that fixes missing data, matches records to the right person and controls who can see what. Three: AI models and knowledge systems. Four: they produce alerts and suggestions. Five, in green: a doctor or health team decides. Six: outcomes feed back so we monitor accuracy, fairness and drift.
Three components sit on this loop. A, early detection: AI reads Sunita's chest X-ray and gives a TB-likelihood score. A score means 'needs a confirmatory test', not a diagnosis. B, coordinated care: the national TB programme's rules plus a knowledge graph suggest the next test and follow-up, and the doctor decides. C, resource planning: forecasting X-ray, lab and test-kit demand and scheduling referrals.
Look at the badges. Teal means it exists today; amber means it is our proposal. AI X-ray reading already exists in India's TB programme, so our addition is linking it to records, referral and follow-up. The strip at the bottom shows real building blocks, like Apollo's cardiac risk model, Siemens Healthineers' imaging AI and Practo's records software. They are examples, not our proposal, and none of them endorses it. We would start with TB in a few districts; the same loop could later extend to diabetes or heart disease. Many facilities are not fully digital, so the pilot must choose sites with basic digital X-ray and connectivity first."
TRANSITION: "Now, what exactly is the AI inside, and how does it connect to our course?"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4:30-5:30 (60 s)
"Each task gets the technique that fits it. Deep learning, a neural network, reads the X-ray and gives a TB-likelihood score. WHO's benchmark for a TB triage test is at least 90 percent sensitivity and 70 percent specificity; one health technology review found AI tools reaching sensitivity of 0.88 to 0.91, but accuracy varies with setting and threshold, so we validate locally. Supervised machine learning, learning from labelled past cases, estimates risk and forecasts demand. Probabilistic reasoning shows a probability with uncertainty, not a yes or no. An expert system applies fixed programme rules, such as 'high score means confirmatory test'. It is transparent but rigid. A knowledge graph and ontology link symptoms, tests, drugs and facilities in a shared vocabulary. Generative AI drafts referral summaries from approved records only; one study found 1.47 percent hallucinated and 3.45 percent omitted statements, so a clinician verifies.
Remember: prediction gives a score, decision support suggests a next step, optimisation plans resources, and generative AI writes text. A-star search could route a mobile X-ray van, but that is optimisation, not diagnosis. All of this is narrow AI."
TRANSITION: "Back to Sunita."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(continues) | 5:30-6:20 (50 s)
"Back to Sunita. Step one: a health worker records her symptoms and takes a digital chest X-ray. The record links to her ABHA ID, with her consent. That infrastructure already exists. Step two: the image AI gives a TB-likelihood score with its uncertainty, and a rule says a high score means a confirmatory test. Step three: a district doctor sees the X-ray, the score and her history on one screen, can override the AI, and orders a molecular test. She did not need to travel to a radiologist to get this far. Step four: the referral is booked, reminders go out, and the result is shared with her local clinic, with consent.
Meanwhile district planners see forecasts of X-ray, lab and test-kit demand and follow-up gaps, so vans, staff and kits go where they are needed. This is an illustrative journey. The AI never diagnoses or prescribes by itself."
TRANSITION: "How would we know this works, and what could go wrong?" (hand to Presenter 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 6:20-7:15 (55 s)
"How would we know this works? Five phases. One: define the use case and partners and measure today's numbers. Two: choose the model and test it on past data. Three: pilot in a few suitable facilities with doctors in charge. Four: evaluate safety, fairness, workflow and cost. Five: expand only if the evidence supports it.
We check four plain questions. Do we catch real TB without too many false alarms? WHO's benchmark for a triage test is at least 90 percent sensitivity and 70 percent specificity. Are people tested sooner? Do they finish follow-up? And are X-ray and lab resources used better than today? We found no reliable public baseline for the last three, so Phase 1 measures them, and we set targets only after that. We will not invent numbers."
TRANSITION: "But a good pilot also plans for failure. What could go wrong?"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 7:15-8:00 (45 s)
"Every AI project can fail, so we plan for failure first. Biased or thin data: we test by region, sex and age and include rural patients. False alarms and misses: a confirmatory test and a doctor decide, not the AI. Over-reliance: we show uncertainty, allow overrides and log them. Privacy: consent and access controls through ABDM, and the DPDP Rules, fully in force by May 2027. Rules for medical AI: CDSCO guidance, because diagnostic software can count as a medical device, and ICMR's 2023 ethics guidelines. And we keep monitoring for drift.
The main costs are devices, connectivity, training, maintenance and approval. We quote no figures because no reliable public data supports them, and we start where basic digital X-ray exists.
Back to Sunita: her X-ray is read sooner, a doctor decides, and someone follows up. AI can support better decisions, but it cannot remove error or guarantee outcomes. Thank you;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6012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8138160" cy="380104"/>
          </a:xfrm>
          <a:prstGeom prst="rect">
            <a:avLst/>
          </a:prstGeom>
          <a:noFill/>
        </p:spPr>
        <p:txBody>
          <a:bodyPr wrap="square" lIns="36576" tIns="22860" rIns="36576" bIns="18288">
            <a:spAutoFit/>
          </a:bodyPr>
          <a:lstStyle/>
          <a:p>
            <a:pPr algn="l">
              <a:defRPr sz="2200" b="1">
                <a:solidFill>
                  <a:srgbClr val="FFFFFF"/>
                </a:solidFill>
                <a:latin typeface="Aptos Display"/>
              </a:defRPr>
            </a:pPr>
            <a:r>
              <a:rPr dirty="0"/>
              <a:t>GROUP 03  </a:t>
            </a:r>
          </a:p>
        </p:txBody>
      </p:sp>
      <p:sp>
        <p:nvSpPr>
          <p:cNvPr id="4" name="TextBox 3"/>
          <p:cNvSpPr txBox="1"/>
          <p:nvPr/>
        </p:nvSpPr>
        <p:spPr>
          <a:xfrm>
            <a:off x="685800" y="1068660"/>
            <a:ext cx="8138160" cy="657103"/>
          </a:xfrm>
          <a:prstGeom prst="rect">
            <a:avLst/>
          </a:prstGeom>
          <a:noFill/>
        </p:spPr>
        <p:txBody>
          <a:bodyPr wrap="square" lIns="36576" tIns="22860" rIns="36576" bIns="18288">
            <a:spAutoFit/>
          </a:bodyPr>
          <a:lstStyle/>
          <a:p>
            <a:pPr algn="l">
              <a:defRPr sz="1200" b="1">
                <a:solidFill>
                  <a:srgbClr val="13A89E"/>
                </a:solidFill>
                <a:latin typeface="Aptos"/>
              </a:defRPr>
            </a:pPr>
            <a:r>
              <a:rPr dirty="0"/>
              <a:t>AI IN HEALTHCARE  •  APOLLO HOSPITALS, INDIA</a:t>
            </a:r>
            <a:endParaRPr lang="en-GB" dirty="0"/>
          </a:p>
          <a:p>
            <a:pPr>
              <a:defRPr sz="1200" b="1">
                <a:solidFill>
                  <a:srgbClr val="13A89E"/>
                </a:solidFill>
                <a:latin typeface="Aptos"/>
              </a:defRPr>
            </a:pPr>
            <a:r>
              <a:rPr lang="en-GB" sz="1400" b="1" dirty="0"/>
              <a:t>Using AI to enable early disease detection, personalised treatment, reduce diagnostic errors, and improve hospital resource utilisation.</a:t>
            </a:r>
            <a:endParaRPr lang="en-GB" sz="1400" dirty="0"/>
          </a:p>
        </p:txBody>
      </p:sp>
      <p:sp>
        <p:nvSpPr>
          <p:cNvPr id="5" name="TextBox 4"/>
          <p:cNvSpPr txBox="1"/>
          <p:nvPr/>
        </p:nvSpPr>
        <p:spPr>
          <a:xfrm>
            <a:off x="685800" y="1732307"/>
            <a:ext cx="8131387" cy="318549"/>
          </a:xfrm>
          <a:prstGeom prst="rect">
            <a:avLst/>
          </a:prstGeom>
          <a:noFill/>
        </p:spPr>
        <p:txBody>
          <a:bodyPr wrap="square" lIns="36576" tIns="22860" rIns="36576" bIns="18288">
            <a:spAutoFit/>
          </a:bodyPr>
          <a:lstStyle/>
          <a:p>
            <a:pPr algn="ctr">
              <a:defRPr sz="1800" b="1">
                <a:solidFill>
                  <a:srgbClr val="0B2545"/>
                </a:solidFill>
                <a:latin typeface="Aptos Display"/>
              </a:defRPr>
            </a:pPr>
            <a:r>
              <a:rPr lang="en-GB" dirty="0"/>
              <a:t>Group Members:</a:t>
            </a:r>
            <a:endParaRPr dirty="0"/>
          </a:p>
        </p:txBody>
      </p:sp>
      <p:sp>
        <p:nvSpPr>
          <p:cNvPr id="6" name="Rectangle 5"/>
          <p:cNvSpPr/>
          <p:nvPr/>
        </p:nvSpPr>
        <p:spPr>
          <a:xfrm>
            <a:off x="685800" y="2057400"/>
            <a:ext cx="3108960" cy="438912"/>
          </a:xfrm>
          <a:prstGeom prst="rect">
            <a:avLst/>
          </a:prstGeom>
          <a:solidFill>
            <a:srgbClr val="13A8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2167128"/>
            <a:ext cx="2889504" cy="226216"/>
          </a:xfrm>
          <a:prstGeom prst="rect">
            <a:avLst/>
          </a:prstGeom>
          <a:noFill/>
        </p:spPr>
        <p:txBody>
          <a:bodyPr wrap="square" lIns="36576" tIns="22860" rIns="36576" bIns="18288">
            <a:spAutoFit/>
          </a:bodyPr>
          <a:lstStyle/>
          <a:p>
            <a:pPr algn="ctr">
              <a:defRPr sz="1200" b="1">
                <a:solidFill>
                  <a:srgbClr val="FFFFFF"/>
                </a:solidFill>
                <a:latin typeface="Aptos"/>
              </a:defRPr>
            </a:pPr>
            <a:r>
              <a:rPr dirty="0"/>
              <a:t>ENROLLMENT NUMBER</a:t>
            </a:r>
          </a:p>
        </p:txBody>
      </p:sp>
      <p:sp>
        <p:nvSpPr>
          <p:cNvPr id="8" name="Rectangle 7"/>
          <p:cNvSpPr/>
          <p:nvPr/>
        </p:nvSpPr>
        <p:spPr>
          <a:xfrm>
            <a:off x="3794760" y="2057400"/>
            <a:ext cx="5029200" cy="438912"/>
          </a:xfrm>
          <a:prstGeom prst="rect">
            <a:avLst/>
          </a:prstGeom>
          <a:solidFill>
            <a:srgbClr val="13A8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94761" y="2167128"/>
            <a:ext cx="4919472" cy="226216"/>
          </a:xfrm>
          <a:prstGeom prst="rect">
            <a:avLst/>
          </a:prstGeom>
          <a:noFill/>
        </p:spPr>
        <p:txBody>
          <a:bodyPr wrap="square" lIns="36576" tIns="22860" rIns="36576" bIns="18288">
            <a:spAutoFit/>
          </a:bodyPr>
          <a:lstStyle/>
          <a:p>
            <a:pPr algn="ctr">
              <a:defRPr sz="1200" b="1">
                <a:solidFill>
                  <a:srgbClr val="FFFFFF"/>
                </a:solidFill>
                <a:latin typeface="Aptos"/>
              </a:defRPr>
            </a:pPr>
            <a:r>
              <a:rPr dirty="0"/>
              <a:t>NAME</a:t>
            </a:r>
          </a:p>
        </p:txBody>
      </p:sp>
      <p:sp>
        <p:nvSpPr>
          <p:cNvPr id="10" name="Rectangle 9"/>
          <p:cNvSpPr/>
          <p:nvPr/>
        </p:nvSpPr>
        <p:spPr>
          <a:xfrm>
            <a:off x="685800" y="2496312"/>
            <a:ext cx="3108960" cy="438912"/>
          </a:xfrm>
          <a:prstGeom prst="rect">
            <a:avLst/>
          </a:prstGeom>
          <a:solidFill>
            <a:srgbClr val="FFFFFF"/>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20261011</a:t>
            </a:r>
            <a:endParaRPr dirty="0">
              <a:solidFill>
                <a:schemeClr val="bg2">
                  <a:lumMod val="10000"/>
                </a:schemeClr>
              </a:solidFill>
            </a:endParaRPr>
          </a:p>
        </p:txBody>
      </p:sp>
      <p:sp>
        <p:nvSpPr>
          <p:cNvPr id="11" name="Rectangle 10"/>
          <p:cNvSpPr/>
          <p:nvPr/>
        </p:nvSpPr>
        <p:spPr>
          <a:xfrm>
            <a:off x="3794760" y="2496312"/>
            <a:ext cx="5029200" cy="438912"/>
          </a:xfrm>
          <a:prstGeom prst="rect">
            <a:avLst/>
          </a:prstGeom>
          <a:solidFill>
            <a:srgbClr val="FFFFFF"/>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Chirag Sherawat</a:t>
            </a:r>
            <a:endParaRPr dirty="0">
              <a:solidFill>
                <a:schemeClr val="bg2">
                  <a:lumMod val="10000"/>
                </a:schemeClr>
              </a:solidFill>
            </a:endParaRPr>
          </a:p>
        </p:txBody>
      </p:sp>
      <p:sp>
        <p:nvSpPr>
          <p:cNvPr id="12" name="TextBox 11"/>
          <p:cNvSpPr txBox="1"/>
          <p:nvPr/>
        </p:nvSpPr>
        <p:spPr>
          <a:xfrm>
            <a:off x="813816" y="2606040"/>
            <a:ext cx="411480" cy="210312"/>
          </a:xfrm>
          <a:prstGeom prst="rect">
            <a:avLst/>
          </a:prstGeom>
          <a:noFill/>
        </p:spPr>
        <p:txBody>
          <a:bodyPr wrap="square" lIns="36576" tIns="22860" rIns="36576" bIns="18288">
            <a:spAutoFit/>
          </a:bodyPr>
          <a:lstStyle/>
          <a:p>
            <a:pPr algn="l">
              <a:defRPr sz="1100" b="1">
                <a:solidFill>
                  <a:srgbClr val="5B6B7B"/>
                </a:solidFill>
                <a:latin typeface="Aptos"/>
              </a:defRPr>
            </a:pPr>
            <a:r>
              <a:t>01</a:t>
            </a:r>
          </a:p>
        </p:txBody>
      </p:sp>
      <p:sp>
        <p:nvSpPr>
          <p:cNvPr id="15" name="Rectangle 14"/>
          <p:cNvSpPr/>
          <p:nvPr/>
        </p:nvSpPr>
        <p:spPr>
          <a:xfrm>
            <a:off x="685800" y="2935224"/>
            <a:ext cx="3108960" cy="438912"/>
          </a:xfrm>
          <a:prstGeom prst="rect">
            <a:avLst/>
          </a:prstGeom>
          <a:solidFill>
            <a:srgbClr val="E8EFF3"/>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20261012</a:t>
            </a:r>
            <a:endParaRPr dirty="0">
              <a:solidFill>
                <a:schemeClr val="bg2">
                  <a:lumMod val="10000"/>
                </a:schemeClr>
              </a:solidFill>
            </a:endParaRPr>
          </a:p>
        </p:txBody>
      </p:sp>
      <p:sp>
        <p:nvSpPr>
          <p:cNvPr id="16" name="Rectangle 15"/>
          <p:cNvSpPr/>
          <p:nvPr/>
        </p:nvSpPr>
        <p:spPr>
          <a:xfrm>
            <a:off x="3794760" y="2935224"/>
            <a:ext cx="5029200" cy="438912"/>
          </a:xfrm>
          <a:prstGeom prst="rect">
            <a:avLst/>
          </a:prstGeom>
          <a:solidFill>
            <a:srgbClr val="E8EFF3"/>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Dev Prajapati</a:t>
            </a:r>
            <a:endParaRPr dirty="0">
              <a:solidFill>
                <a:schemeClr val="bg2">
                  <a:lumMod val="10000"/>
                </a:schemeClr>
              </a:solidFill>
            </a:endParaRPr>
          </a:p>
        </p:txBody>
      </p:sp>
      <p:sp>
        <p:nvSpPr>
          <p:cNvPr id="17" name="TextBox 16"/>
          <p:cNvSpPr txBox="1"/>
          <p:nvPr/>
        </p:nvSpPr>
        <p:spPr>
          <a:xfrm>
            <a:off x="813816" y="3044952"/>
            <a:ext cx="411480" cy="210312"/>
          </a:xfrm>
          <a:prstGeom prst="rect">
            <a:avLst/>
          </a:prstGeom>
          <a:noFill/>
        </p:spPr>
        <p:txBody>
          <a:bodyPr wrap="square" lIns="36576" tIns="22860" rIns="36576" bIns="18288">
            <a:spAutoFit/>
          </a:bodyPr>
          <a:lstStyle/>
          <a:p>
            <a:pPr algn="l">
              <a:defRPr sz="1100" b="1">
                <a:solidFill>
                  <a:srgbClr val="5B6B7B"/>
                </a:solidFill>
                <a:latin typeface="Aptos"/>
              </a:defRPr>
            </a:pPr>
            <a:r>
              <a:t>02</a:t>
            </a:r>
          </a:p>
        </p:txBody>
      </p:sp>
      <p:sp>
        <p:nvSpPr>
          <p:cNvPr id="20" name="Rectangle 19"/>
          <p:cNvSpPr/>
          <p:nvPr/>
        </p:nvSpPr>
        <p:spPr>
          <a:xfrm>
            <a:off x="685800" y="3374136"/>
            <a:ext cx="3108960" cy="438912"/>
          </a:xfrm>
          <a:prstGeom prst="rect">
            <a:avLst/>
          </a:prstGeom>
          <a:solidFill>
            <a:srgbClr val="FFFFFF"/>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20261013</a:t>
            </a:r>
            <a:endParaRPr dirty="0">
              <a:solidFill>
                <a:schemeClr val="bg2">
                  <a:lumMod val="10000"/>
                </a:schemeClr>
              </a:solidFill>
            </a:endParaRPr>
          </a:p>
        </p:txBody>
      </p:sp>
      <p:sp>
        <p:nvSpPr>
          <p:cNvPr id="21" name="Rectangle 20"/>
          <p:cNvSpPr/>
          <p:nvPr/>
        </p:nvSpPr>
        <p:spPr>
          <a:xfrm>
            <a:off x="3794761" y="3374136"/>
            <a:ext cx="5029200" cy="438912"/>
          </a:xfrm>
          <a:prstGeom prst="rect">
            <a:avLst/>
          </a:prstGeom>
          <a:solidFill>
            <a:srgbClr val="FFFFFF"/>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Dev Shah</a:t>
            </a:r>
            <a:endParaRPr dirty="0">
              <a:solidFill>
                <a:schemeClr val="bg2">
                  <a:lumMod val="10000"/>
                </a:schemeClr>
              </a:solidFill>
            </a:endParaRPr>
          </a:p>
        </p:txBody>
      </p:sp>
      <p:sp>
        <p:nvSpPr>
          <p:cNvPr id="22" name="TextBox 21"/>
          <p:cNvSpPr txBox="1"/>
          <p:nvPr/>
        </p:nvSpPr>
        <p:spPr>
          <a:xfrm>
            <a:off x="813816" y="3483864"/>
            <a:ext cx="411480" cy="210312"/>
          </a:xfrm>
          <a:prstGeom prst="rect">
            <a:avLst/>
          </a:prstGeom>
          <a:noFill/>
        </p:spPr>
        <p:txBody>
          <a:bodyPr wrap="square" lIns="36576" tIns="22860" rIns="36576" bIns="18288">
            <a:spAutoFit/>
          </a:bodyPr>
          <a:lstStyle/>
          <a:p>
            <a:pPr algn="l">
              <a:defRPr sz="1100" b="1">
                <a:solidFill>
                  <a:srgbClr val="5B6B7B"/>
                </a:solidFill>
                <a:latin typeface="Aptos"/>
              </a:defRPr>
            </a:pPr>
            <a:r>
              <a:t>03</a:t>
            </a:r>
          </a:p>
        </p:txBody>
      </p:sp>
      <p:sp>
        <p:nvSpPr>
          <p:cNvPr id="25" name="Rectangle 24"/>
          <p:cNvSpPr/>
          <p:nvPr/>
        </p:nvSpPr>
        <p:spPr>
          <a:xfrm>
            <a:off x="685800" y="3813048"/>
            <a:ext cx="3108960" cy="438912"/>
          </a:xfrm>
          <a:prstGeom prst="rect">
            <a:avLst/>
          </a:prstGeom>
          <a:solidFill>
            <a:srgbClr val="E8EFF3"/>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20261014</a:t>
            </a:r>
            <a:endParaRPr dirty="0">
              <a:solidFill>
                <a:schemeClr val="bg2">
                  <a:lumMod val="10000"/>
                </a:schemeClr>
              </a:solidFill>
            </a:endParaRPr>
          </a:p>
        </p:txBody>
      </p:sp>
      <p:sp>
        <p:nvSpPr>
          <p:cNvPr id="26" name="Rectangle 25"/>
          <p:cNvSpPr/>
          <p:nvPr/>
        </p:nvSpPr>
        <p:spPr>
          <a:xfrm>
            <a:off x="3794760" y="3813048"/>
            <a:ext cx="5029200" cy="438912"/>
          </a:xfrm>
          <a:prstGeom prst="rect">
            <a:avLst/>
          </a:prstGeom>
          <a:solidFill>
            <a:srgbClr val="E8EFF3"/>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Devansh Kavishwar</a:t>
            </a:r>
            <a:endParaRPr dirty="0">
              <a:solidFill>
                <a:schemeClr val="bg2">
                  <a:lumMod val="10000"/>
                </a:schemeClr>
              </a:solidFill>
            </a:endParaRPr>
          </a:p>
        </p:txBody>
      </p:sp>
      <p:sp>
        <p:nvSpPr>
          <p:cNvPr id="27" name="TextBox 26"/>
          <p:cNvSpPr txBox="1"/>
          <p:nvPr/>
        </p:nvSpPr>
        <p:spPr>
          <a:xfrm>
            <a:off x="813816" y="3922776"/>
            <a:ext cx="411480" cy="210312"/>
          </a:xfrm>
          <a:prstGeom prst="rect">
            <a:avLst/>
          </a:prstGeom>
          <a:noFill/>
        </p:spPr>
        <p:txBody>
          <a:bodyPr wrap="square" lIns="36576" tIns="22860" rIns="36576" bIns="18288">
            <a:spAutoFit/>
          </a:bodyPr>
          <a:lstStyle/>
          <a:p>
            <a:pPr algn="l">
              <a:defRPr sz="1100" b="1">
                <a:solidFill>
                  <a:srgbClr val="5B6B7B"/>
                </a:solidFill>
                <a:latin typeface="Aptos"/>
              </a:defRPr>
            </a:pPr>
            <a:r>
              <a:t>04</a:t>
            </a:r>
          </a:p>
        </p:txBody>
      </p:sp>
      <p:sp>
        <p:nvSpPr>
          <p:cNvPr id="30" name="Rectangle 29"/>
          <p:cNvSpPr/>
          <p:nvPr/>
        </p:nvSpPr>
        <p:spPr>
          <a:xfrm>
            <a:off x="685800" y="4251960"/>
            <a:ext cx="3108960" cy="438912"/>
          </a:xfrm>
          <a:prstGeom prst="rect">
            <a:avLst/>
          </a:prstGeom>
          <a:solidFill>
            <a:srgbClr val="FFFFFF"/>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20261015</a:t>
            </a:r>
            <a:endParaRPr dirty="0">
              <a:solidFill>
                <a:schemeClr val="bg2">
                  <a:lumMod val="10000"/>
                </a:schemeClr>
              </a:solidFill>
            </a:endParaRPr>
          </a:p>
        </p:txBody>
      </p:sp>
      <p:sp>
        <p:nvSpPr>
          <p:cNvPr id="31" name="Rectangle 30"/>
          <p:cNvSpPr/>
          <p:nvPr/>
        </p:nvSpPr>
        <p:spPr>
          <a:xfrm>
            <a:off x="3794760" y="4251960"/>
            <a:ext cx="5029200" cy="438912"/>
          </a:xfrm>
          <a:prstGeom prst="rect">
            <a:avLst/>
          </a:prstGeom>
          <a:solidFill>
            <a:srgbClr val="FFFFFF"/>
          </a:solidFill>
          <a:ln>
            <a:solidFill>
              <a:srgbClr val="CD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10000"/>
                  </a:schemeClr>
                </a:solidFill>
              </a:rPr>
              <a:t>Devanshu Joshi</a:t>
            </a:r>
            <a:endParaRPr dirty="0">
              <a:solidFill>
                <a:schemeClr val="bg2">
                  <a:lumMod val="10000"/>
                </a:schemeClr>
              </a:solidFill>
            </a:endParaRPr>
          </a:p>
        </p:txBody>
      </p:sp>
      <p:sp>
        <p:nvSpPr>
          <p:cNvPr id="32" name="TextBox 31"/>
          <p:cNvSpPr txBox="1"/>
          <p:nvPr/>
        </p:nvSpPr>
        <p:spPr>
          <a:xfrm>
            <a:off x="813816" y="4361688"/>
            <a:ext cx="411480" cy="210312"/>
          </a:xfrm>
          <a:prstGeom prst="rect">
            <a:avLst/>
          </a:prstGeom>
          <a:noFill/>
        </p:spPr>
        <p:txBody>
          <a:bodyPr wrap="square" lIns="36576" tIns="22860" rIns="36576" bIns="18288">
            <a:spAutoFit/>
          </a:bodyPr>
          <a:lstStyle/>
          <a:p>
            <a:pPr algn="l">
              <a:defRPr sz="1100" b="1">
                <a:solidFill>
                  <a:srgbClr val="5B6B7B"/>
                </a:solidFill>
                <a:latin typeface="Aptos"/>
              </a:defRPr>
            </a:pPr>
            <a:r>
              <a:t>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marL="0" indent="0">
              <a:buNone/>
            </a:pPr>
            <a:r>
              <a:rPr lang="en-US" sz="1000" b="1" dirty="0">
                <a:solidFill>
                  <a:srgbClr val="13A89E"/>
                </a:solidFill>
                <a:latin typeface="Calibri" pitchFamily="34" charset="0"/>
                <a:ea typeface="Calibri" pitchFamily="34" charset="-122"/>
                <a:cs typeface="Calibri" pitchFamily="34" charset="-120"/>
              </a:rPr>
              <a:t>GROUP 03  |  AI IN HEALTHCARE  |  INDIA’S HEALTH SYSTEM</a:t>
            </a:r>
            <a:endParaRPr lang="en-US" sz="1000" dirty="0"/>
          </a:p>
        </p:txBody>
      </p:sp>
      <p:sp>
        <p:nvSpPr>
          <p:cNvPr id="3" name="Text 1"/>
          <p:cNvSpPr txBox="1"/>
          <p:nvPr/>
        </p:nvSpPr>
        <p:spPr>
          <a:xfrm>
            <a:off x="457200" y="566928"/>
            <a:ext cx="8229600" cy="64008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A cough that won’t go away, far from a specialist</a:t>
            </a:r>
            <a:endParaRPr lang="en-US" sz="2800" dirty="0"/>
          </a:p>
        </p:txBody>
      </p:sp>
      <p:sp>
        <p:nvSpPr>
          <p:cNvPr id="4" name="Shape 2"/>
          <p:cNvSpPr/>
          <p:nvPr/>
        </p:nvSpPr>
        <p:spPr>
          <a:xfrm>
            <a:off x="457200" y="1371600"/>
            <a:ext cx="2377440" cy="256032"/>
          </a:xfrm>
          <a:prstGeom prst="roundRect">
            <a:avLst>
              <a:gd name="adj" fmla="val 17857"/>
            </a:avLst>
          </a:prstGeom>
          <a:solidFill>
            <a:srgbClr val="E8A33D"/>
          </a:solidFill>
          <a:ln/>
        </p:spPr>
      </p:sp>
      <p:sp>
        <p:nvSpPr>
          <p:cNvPr id="5" name="Text 3"/>
          <p:cNvSpPr txBox="1"/>
          <p:nvPr/>
        </p:nvSpPr>
        <p:spPr>
          <a:xfrm>
            <a:off x="457200" y="1371600"/>
            <a:ext cx="2377440" cy="256032"/>
          </a:xfrm>
          <a:prstGeom prst="rect">
            <a:avLst/>
          </a:prstGeom>
          <a:noFill/>
          <a:ln/>
        </p:spPr>
        <p:txBody>
          <a:bodyPr wrap="square" lIns="0" tIns="0" rIns="0" bIns="0" rtlCol="0" anchor="ctr"/>
          <a:lstStyle/>
          <a:p>
            <a:pPr marL="0" indent="0" algn="ctr">
              <a:buNone/>
            </a:pPr>
            <a:r>
              <a:rPr lang="en-US" sz="900" b="1" dirty="0">
                <a:solidFill>
                  <a:srgbClr val="0B2545"/>
                </a:solidFill>
                <a:latin typeface="Calibri" pitchFamily="34" charset="0"/>
                <a:ea typeface="Calibri" pitchFamily="34" charset="-122"/>
                <a:cs typeface="Calibri" pitchFamily="34" charset="-120"/>
              </a:rPr>
              <a:t>HYPOTHETICAL PATIENT - NOT A REAL CASE</a:t>
            </a:r>
            <a:endParaRPr lang="en-US" sz="900" dirty="0"/>
          </a:p>
        </p:txBody>
      </p:sp>
      <p:sp>
        <p:nvSpPr>
          <p:cNvPr id="6" name="Text 4"/>
          <p:cNvSpPr txBox="1"/>
          <p:nvPr/>
        </p:nvSpPr>
        <p:spPr>
          <a:xfrm>
            <a:off x="457200" y="1783080"/>
            <a:ext cx="3931920" cy="1005840"/>
          </a:xfrm>
          <a:prstGeom prst="rect">
            <a:avLst/>
          </a:prstGeom>
          <a:noFill/>
          <a:ln/>
        </p:spPr>
        <p:txBody>
          <a:bodyPr wrap="square" lIns="0" tIns="0" rIns="0" bIns="0" rtlCol="0" anchor="t"/>
          <a:lstStyle/>
          <a:p>
            <a:pPr marL="0" indent="0">
              <a:buNone/>
            </a:pPr>
            <a:r>
              <a:rPr lang="en-US" sz="1550" dirty="0">
                <a:solidFill>
                  <a:srgbClr val="FFFFFF"/>
                </a:solidFill>
                <a:latin typeface="Calibri" pitchFamily="34" charset="0"/>
                <a:ea typeface="Calibri" pitchFamily="34" charset="-122"/>
                <a:cs typeface="Calibri" pitchFamily="34" charset="-120"/>
              </a:rPr>
              <a:t>Sunita, 42, farm worker: a three-week cough, weight loss, evening fevers. Her nearest health centre has no radiologist.</a:t>
            </a:r>
            <a:endParaRPr lang="en-US" sz="1550" dirty="0"/>
          </a:p>
        </p:txBody>
      </p:sp>
      <p:sp>
        <p:nvSpPr>
          <p:cNvPr id="7" name="Shape 5"/>
          <p:cNvSpPr/>
          <p:nvPr/>
        </p:nvSpPr>
        <p:spPr>
          <a:xfrm>
            <a:off x="457200" y="2880360"/>
            <a:ext cx="1234440" cy="457200"/>
          </a:xfrm>
          <a:prstGeom prst="rect">
            <a:avLst/>
          </a:prstGeom>
          <a:solidFill>
            <a:srgbClr val="14355E"/>
          </a:solidFill>
          <a:ln/>
        </p:spPr>
      </p:sp>
      <p:sp>
        <p:nvSpPr>
          <p:cNvPr id="8" name="Text 6"/>
          <p:cNvSpPr txBox="1"/>
          <p:nvPr/>
        </p:nvSpPr>
        <p:spPr>
          <a:xfrm>
            <a:off x="457200" y="2880360"/>
            <a:ext cx="12344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TB?</a:t>
            </a:r>
            <a:endParaRPr lang="en-US" sz="1200" dirty="0"/>
          </a:p>
        </p:txBody>
      </p:sp>
      <p:sp>
        <p:nvSpPr>
          <p:cNvPr id="9" name="Shape 7"/>
          <p:cNvSpPr/>
          <p:nvPr/>
        </p:nvSpPr>
        <p:spPr>
          <a:xfrm>
            <a:off x="1783080" y="2880360"/>
            <a:ext cx="1234440" cy="457200"/>
          </a:xfrm>
          <a:prstGeom prst="rect">
            <a:avLst/>
          </a:prstGeom>
          <a:solidFill>
            <a:srgbClr val="14355E"/>
          </a:solidFill>
          <a:ln/>
        </p:spPr>
      </p:sp>
      <p:sp>
        <p:nvSpPr>
          <p:cNvPr id="10" name="Text 8"/>
          <p:cNvSpPr txBox="1"/>
          <p:nvPr/>
        </p:nvSpPr>
        <p:spPr>
          <a:xfrm>
            <a:off x="1783080" y="2880360"/>
            <a:ext cx="12344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Pneumonia?</a:t>
            </a:r>
            <a:endParaRPr lang="en-US" sz="1200" dirty="0"/>
          </a:p>
        </p:txBody>
      </p:sp>
      <p:sp>
        <p:nvSpPr>
          <p:cNvPr id="11" name="Shape 9"/>
          <p:cNvSpPr/>
          <p:nvPr/>
        </p:nvSpPr>
        <p:spPr>
          <a:xfrm>
            <a:off x="3108960" y="2880360"/>
            <a:ext cx="1234440" cy="457200"/>
          </a:xfrm>
          <a:prstGeom prst="rect">
            <a:avLst/>
          </a:prstGeom>
          <a:solidFill>
            <a:srgbClr val="14355E"/>
          </a:solidFill>
          <a:ln/>
        </p:spPr>
      </p:sp>
      <p:sp>
        <p:nvSpPr>
          <p:cNvPr id="12" name="Text 10"/>
          <p:cNvSpPr txBox="1"/>
          <p:nvPr/>
        </p:nvSpPr>
        <p:spPr>
          <a:xfrm>
            <a:off x="3108960" y="2880360"/>
            <a:ext cx="12344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COPD / other?</a:t>
            </a:r>
            <a:endParaRPr lang="en-US" sz="1200" dirty="0"/>
          </a:p>
        </p:txBody>
      </p:sp>
      <p:sp>
        <p:nvSpPr>
          <p:cNvPr id="13" name="Text 11"/>
          <p:cNvSpPr txBox="1"/>
          <p:nvPr/>
        </p:nvSpPr>
        <p:spPr>
          <a:xfrm>
            <a:off x="4846320" y="1783080"/>
            <a:ext cx="3840480" cy="274320"/>
          </a:xfrm>
          <a:prstGeom prst="rect">
            <a:avLst/>
          </a:prstGeom>
          <a:noFill/>
          <a:ln/>
        </p:spPr>
        <p:txBody>
          <a:bodyPr wrap="square" lIns="0" tIns="0" rIns="0" bIns="0" rtlCol="0" anchor="t"/>
          <a:lstStyle/>
          <a:p>
            <a:pPr marL="0" indent="0">
              <a:buNone/>
            </a:pPr>
            <a:r>
              <a:rPr lang="en-US" sz="1300" b="1" dirty="0">
                <a:solidFill>
                  <a:srgbClr val="13A89E"/>
                </a:solidFill>
                <a:latin typeface="Calibri" pitchFamily="34" charset="0"/>
                <a:ea typeface="Calibri" pitchFamily="34" charset="-122"/>
                <a:cs typeface="Calibri" pitchFamily="34" charset="-120"/>
              </a:rPr>
              <a:t>The system around her</a:t>
            </a:r>
            <a:endParaRPr lang="en-US" sz="1300" dirty="0"/>
          </a:p>
        </p:txBody>
      </p:sp>
      <p:sp>
        <p:nvSpPr>
          <p:cNvPr id="14" name="Text 12"/>
          <p:cNvSpPr txBox="1"/>
          <p:nvPr/>
        </p:nvSpPr>
        <p:spPr>
          <a:xfrm>
            <a:off x="4846320" y="2103120"/>
            <a:ext cx="384048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X-ray reading waits for a specialist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Records are on paper or in separate systems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referral means another journey</a:t>
            </a:r>
            <a:endParaRPr lang="en-US" sz="1400" dirty="0"/>
          </a:p>
        </p:txBody>
      </p:sp>
      <p:sp>
        <p:nvSpPr>
          <p:cNvPr id="15" name="Shape 13"/>
          <p:cNvSpPr/>
          <p:nvPr/>
        </p:nvSpPr>
        <p:spPr>
          <a:xfrm>
            <a:off x="0" y="3611880"/>
            <a:ext cx="9144000" cy="1531620"/>
          </a:xfrm>
          <a:prstGeom prst="rect">
            <a:avLst/>
          </a:prstGeom>
          <a:solidFill>
            <a:srgbClr val="13A89E"/>
          </a:solidFill>
          <a:ln/>
        </p:spPr>
      </p:sp>
      <p:sp>
        <p:nvSpPr>
          <p:cNvPr id="16" name="Text 14"/>
          <p:cNvSpPr txBox="1"/>
          <p:nvPr/>
        </p:nvSpPr>
        <p:spPr>
          <a:xfrm>
            <a:off x="457200" y="3703320"/>
            <a:ext cx="8229600" cy="914400"/>
          </a:xfrm>
          <a:prstGeom prst="rect">
            <a:avLst/>
          </a:prstGeom>
          <a:noFill/>
          <a:ln/>
        </p:spPr>
        <p:txBody>
          <a:bodyPr wrap="square" lIns="0" tIns="0" rIns="0" bIns="0" rtlCol="0" anchor="ctr"/>
          <a:lstStyle/>
          <a:p>
            <a:pPr marL="0" indent="0">
              <a:buNone/>
            </a:pPr>
            <a:r>
              <a:rPr lang="en-US" sz="1850" b="1" dirty="0">
                <a:solidFill>
                  <a:srgbClr val="0B2545"/>
                </a:solidFill>
                <a:latin typeface="Calibri" pitchFamily="34" charset="0"/>
                <a:ea typeface="Calibri" pitchFamily="34" charset="-122"/>
                <a:cs typeface="Calibri" pitchFamily="34" charset="-120"/>
              </a:rPr>
              <a:t>How can AI help India’s healthcare system detect disease earlier, support safer and more personalised clinical decisions, and use limited resources more effectively?</a:t>
            </a:r>
            <a:endParaRPr lang="en-US" sz="1850" dirty="0"/>
          </a:p>
        </p:txBody>
      </p:sp>
      <p:sp>
        <p:nvSpPr>
          <p:cNvPr id="17" name="Text 15"/>
          <p:cNvSpPr txBox="1"/>
          <p:nvPr/>
        </p:nvSpPr>
        <p:spPr>
          <a:xfrm>
            <a:off x="457200" y="4754880"/>
            <a:ext cx="8229600" cy="228600"/>
          </a:xfrm>
          <a:prstGeom prst="rect">
            <a:avLst/>
          </a:prstGeom>
          <a:noFill/>
          <a:ln/>
        </p:spPr>
        <p:txBody>
          <a:bodyPr wrap="square" lIns="0" tIns="0" rIns="0" bIns="0" rtlCol="0" anchor="t"/>
          <a:lstStyle/>
          <a:p>
            <a:pPr marL="0" indent="0">
              <a:buNone/>
            </a:pPr>
            <a:r>
              <a:rPr lang="en-US" sz="850" dirty="0">
                <a:solidFill>
                  <a:srgbClr val="0B2545"/>
                </a:solidFill>
                <a:latin typeface="Calibri" pitchFamily="34" charset="0"/>
                <a:ea typeface="Calibri" pitchFamily="34" charset="-122"/>
                <a:cs typeface="Calibri" pitchFamily="34" charset="-120"/>
              </a:rPr>
              <a:t>Brief: fewer diagnostic errors, better outcomes, smarter use of resources, for the whole health system, not one hospital. Sunita is fictional.</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100" b="1" dirty="0">
                <a:solidFill>
                  <a:srgbClr val="0B2545"/>
                </a:solidFill>
                <a:latin typeface="Calibri" pitchFamily="34" charset="0"/>
                <a:ea typeface="Calibri" pitchFamily="34" charset="-122"/>
                <a:cs typeface="Calibri" pitchFamily="34" charset="-120"/>
              </a:rPr>
              <a:t>TB shows the gap: heavy burden, few specialists, and tools not yet joined up</a:t>
            </a:r>
            <a:endParaRPr lang="en-US" sz="2100" dirty="0"/>
          </a:p>
        </p:txBody>
      </p:sp>
      <p:sp>
        <p:nvSpPr>
          <p:cNvPr id="3" name="Shape 1"/>
          <p:cNvSpPr/>
          <p:nvPr/>
        </p:nvSpPr>
        <p:spPr>
          <a:xfrm>
            <a:off x="457200" y="1051560"/>
            <a:ext cx="2651760" cy="320040"/>
          </a:xfrm>
          <a:prstGeom prst="rect">
            <a:avLst/>
          </a:prstGeom>
          <a:solidFill>
            <a:srgbClr val="0B2545"/>
          </a:solidFill>
          <a:ln/>
        </p:spPr>
      </p:sp>
      <p:sp>
        <p:nvSpPr>
          <p:cNvPr id="4" name="Text 2"/>
          <p:cNvSpPr txBox="1"/>
          <p:nvPr/>
        </p:nvSpPr>
        <p:spPr>
          <a:xfrm>
            <a:off x="548640" y="1051560"/>
            <a:ext cx="2468880" cy="32004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THE BURDEN</a:t>
            </a:r>
            <a:endParaRPr lang="en-US" sz="1050" dirty="0"/>
          </a:p>
        </p:txBody>
      </p:sp>
      <p:sp>
        <p:nvSpPr>
          <p:cNvPr id="5" name="Shape 3"/>
          <p:cNvSpPr/>
          <p:nvPr/>
        </p:nvSpPr>
        <p:spPr>
          <a:xfrm>
            <a:off x="457200" y="1463040"/>
            <a:ext cx="2651760" cy="1508760"/>
          </a:xfrm>
          <a:prstGeom prst="rect">
            <a:avLst/>
          </a:prstGeom>
          <a:solidFill>
            <a:srgbClr val="F2F5F8"/>
          </a:solidFill>
          <a:ln/>
        </p:spPr>
      </p:sp>
      <p:sp>
        <p:nvSpPr>
          <p:cNvPr id="6" name="Text 4"/>
          <p:cNvSpPr txBox="1"/>
          <p:nvPr/>
        </p:nvSpPr>
        <p:spPr>
          <a:xfrm>
            <a:off x="594360" y="1554480"/>
            <a:ext cx="2377440" cy="50292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25%</a:t>
            </a:r>
            <a:endParaRPr lang="en-US" sz="2600" dirty="0"/>
          </a:p>
        </p:txBody>
      </p:sp>
      <p:sp>
        <p:nvSpPr>
          <p:cNvPr id="7" name="Text 5"/>
          <p:cNvSpPr txBox="1"/>
          <p:nvPr/>
        </p:nvSpPr>
        <p:spPr>
          <a:xfrm>
            <a:off x="594360" y="2121408"/>
            <a:ext cx="2377440" cy="82296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of the world’s TB cases are in India (2024), and 32% of drug-resistant TB. Incidence is falling (-21% since 2015).</a:t>
            </a:r>
            <a:endParaRPr lang="en-US" sz="1050" dirty="0"/>
          </a:p>
        </p:txBody>
      </p:sp>
      <p:sp>
        <p:nvSpPr>
          <p:cNvPr id="8" name="Shape 6"/>
          <p:cNvSpPr/>
          <p:nvPr/>
        </p:nvSpPr>
        <p:spPr>
          <a:xfrm>
            <a:off x="457200" y="3063240"/>
            <a:ext cx="2651760" cy="1508760"/>
          </a:xfrm>
          <a:prstGeom prst="rect">
            <a:avLst/>
          </a:prstGeom>
          <a:solidFill>
            <a:srgbClr val="F2F5F8"/>
          </a:solidFill>
          <a:ln/>
        </p:spPr>
      </p:sp>
      <p:sp>
        <p:nvSpPr>
          <p:cNvPr id="9" name="Text 7"/>
          <p:cNvSpPr txBox="1"/>
          <p:nvPr/>
        </p:nvSpPr>
        <p:spPr>
          <a:xfrm>
            <a:off x="594360" y="3154680"/>
            <a:ext cx="2377440" cy="50292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~1 lakh</a:t>
            </a:r>
            <a:endParaRPr lang="en-US" sz="2600" dirty="0"/>
          </a:p>
        </p:txBody>
      </p:sp>
      <p:sp>
        <p:nvSpPr>
          <p:cNvPr id="10" name="Text 8"/>
          <p:cNvSpPr txBox="1"/>
          <p:nvPr/>
        </p:nvSpPr>
        <p:spPr>
          <a:xfrm>
            <a:off x="594360" y="3721608"/>
            <a:ext cx="2377440" cy="82296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estimated TB cases in 2024 still not reaching the national programme: people like Sunita.</a:t>
            </a:r>
            <a:endParaRPr lang="en-US" sz="1050" dirty="0"/>
          </a:p>
        </p:txBody>
      </p:sp>
      <p:sp>
        <p:nvSpPr>
          <p:cNvPr id="11" name="Shape 9"/>
          <p:cNvSpPr/>
          <p:nvPr/>
        </p:nvSpPr>
        <p:spPr>
          <a:xfrm>
            <a:off x="3246120" y="1051560"/>
            <a:ext cx="2651760" cy="320040"/>
          </a:xfrm>
          <a:prstGeom prst="rect">
            <a:avLst/>
          </a:prstGeom>
          <a:solidFill>
            <a:srgbClr val="0B2545"/>
          </a:solidFill>
          <a:ln/>
        </p:spPr>
      </p:sp>
      <p:sp>
        <p:nvSpPr>
          <p:cNvPr id="12" name="Text 10"/>
          <p:cNvSpPr txBox="1"/>
          <p:nvPr/>
        </p:nvSpPr>
        <p:spPr>
          <a:xfrm>
            <a:off x="3337560" y="1051560"/>
            <a:ext cx="2468880" cy="32004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THE ACCESS GAP</a:t>
            </a:r>
            <a:endParaRPr lang="en-US" sz="1050" dirty="0"/>
          </a:p>
        </p:txBody>
      </p:sp>
      <p:sp>
        <p:nvSpPr>
          <p:cNvPr id="13" name="Shape 11"/>
          <p:cNvSpPr/>
          <p:nvPr/>
        </p:nvSpPr>
        <p:spPr>
          <a:xfrm>
            <a:off x="3246120" y="1463040"/>
            <a:ext cx="2651760" cy="1508760"/>
          </a:xfrm>
          <a:prstGeom prst="rect">
            <a:avLst/>
          </a:prstGeom>
          <a:solidFill>
            <a:srgbClr val="F2F5F8"/>
          </a:solidFill>
          <a:ln/>
        </p:spPr>
      </p:sp>
      <p:sp>
        <p:nvSpPr>
          <p:cNvPr id="14" name="Text 12"/>
          <p:cNvSpPr txBox="1"/>
          <p:nvPr/>
        </p:nvSpPr>
        <p:spPr>
          <a:xfrm>
            <a:off x="3383280" y="1554480"/>
            <a:ext cx="2377440" cy="50292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79.5%</a:t>
            </a:r>
            <a:endParaRPr lang="en-US" sz="2600" dirty="0"/>
          </a:p>
        </p:txBody>
      </p:sp>
      <p:sp>
        <p:nvSpPr>
          <p:cNvPr id="15" name="Text 13"/>
          <p:cNvSpPr txBox="1"/>
          <p:nvPr/>
        </p:nvSpPr>
        <p:spPr>
          <a:xfrm>
            <a:off x="3383280" y="2121408"/>
            <a:ext cx="2377440" cy="82296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shortfall of specialists at rural Community Health Centres (data to Mar 2022: older, but structural).</a:t>
            </a:r>
            <a:endParaRPr lang="en-US" sz="1050" dirty="0"/>
          </a:p>
        </p:txBody>
      </p:sp>
      <p:sp>
        <p:nvSpPr>
          <p:cNvPr id="16" name="Shape 14"/>
          <p:cNvSpPr/>
          <p:nvPr/>
        </p:nvSpPr>
        <p:spPr>
          <a:xfrm>
            <a:off x="3246120" y="3063240"/>
            <a:ext cx="2651760" cy="1508760"/>
          </a:xfrm>
          <a:prstGeom prst="rect">
            <a:avLst/>
          </a:prstGeom>
          <a:solidFill>
            <a:srgbClr val="F2F5F8"/>
          </a:solidFill>
          <a:ln/>
        </p:spPr>
      </p:sp>
      <p:sp>
        <p:nvSpPr>
          <p:cNvPr id="17" name="Text 15"/>
          <p:cNvSpPr txBox="1"/>
          <p:nvPr/>
        </p:nvSpPr>
        <p:spPr>
          <a:xfrm>
            <a:off x="3383280" y="3154680"/>
            <a:ext cx="2377440" cy="502920"/>
          </a:xfrm>
          <a:prstGeom prst="rect">
            <a:avLst/>
          </a:prstGeom>
          <a:noFill/>
          <a:ln/>
        </p:spPr>
        <p:txBody>
          <a:bodyPr wrap="square" lIns="0" tIns="0" rIns="0" bIns="0"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541 of 5,480</a:t>
            </a:r>
            <a:endParaRPr lang="en-US" sz="2000" dirty="0"/>
          </a:p>
        </p:txBody>
      </p:sp>
      <p:sp>
        <p:nvSpPr>
          <p:cNvPr id="18" name="Text 16"/>
          <p:cNvSpPr txBox="1"/>
          <p:nvPr/>
        </p:nvSpPr>
        <p:spPr>
          <a:xfrm>
            <a:off x="3383280" y="3721608"/>
            <a:ext cx="2377440" cy="82296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CHCs have all four basic specialists (same report).</a:t>
            </a:r>
            <a:endParaRPr lang="en-US" sz="1050" dirty="0"/>
          </a:p>
        </p:txBody>
      </p:sp>
      <p:sp>
        <p:nvSpPr>
          <p:cNvPr id="19" name="Shape 17"/>
          <p:cNvSpPr/>
          <p:nvPr/>
        </p:nvSpPr>
        <p:spPr>
          <a:xfrm>
            <a:off x="6035040" y="1051560"/>
            <a:ext cx="2651760" cy="320040"/>
          </a:xfrm>
          <a:prstGeom prst="rect">
            <a:avLst/>
          </a:prstGeom>
          <a:solidFill>
            <a:srgbClr val="13A89E"/>
          </a:solidFill>
          <a:ln/>
        </p:spPr>
      </p:sp>
      <p:sp>
        <p:nvSpPr>
          <p:cNvPr id="20" name="Text 18"/>
          <p:cNvSpPr txBox="1"/>
          <p:nvPr/>
        </p:nvSpPr>
        <p:spPr>
          <a:xfrm>
            <a:off x="6126480" y="1051560"/>
            <a:ext cx="2468880" cy="32004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WHAT EXISTS, AND THE GAP</a:t>
            </a:r>
            <a:endParaRPr lang="en-US" sz="1050" dirty="0"/>
          </a:p>
        </p:txBody>
      </p:sp>
      <p:sp>
        <p:nvSpPr>
          <p:cNvPr id="21" name="Shape 19"/>
          <p:cNvSpPr/>
          <p:nvPr/>
        </p:nvSpPr>
        <p:spPr>
          <a:xfrm>
            <a:off x="6035040" y="1463040"/>
            <a:ext cx="2651760" cy="1508760"/>
          </a:xfrm>
          <a:prstGeom prst="rect">
            <a:avLst/>
          </a:prstGeom>
          <a:solidFill>
            <a:srgbClr val="F2F5F8"/>
          </a:solidFill>
          <a:ln/>
        </p:spPr>
      </p:sp>
      <p:sp>
        <p:nvSpPr>
          <p:cNvPr id="22" name="Text 20"/>
          <p:cNvSpPr txBox="1"/>
          <p:nvPr/>
        </p:nvSpPr>
        <p:spPr>
          <a:xfrm>
            <a:off x="6172200" y="1554480"/>
            <a:ext cx="2377440" cy="50292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104 crore</a:t>
            </a:r>
            <a:endParaRPr lang="en-US" sz="2600" dirty="0"/>
          </a:p>
        </p:txBody>
      </p:sp>
      <p:sp>
        <p:nvSpPr>
          <p:cNvPr id="23" name="Text 21"/>
          <p:cNvSpPr txBox="1"/>
          <p:nvPr/>
        </p:nvSpPr>
        <p:spPr>
          <a:xfrm>
            <a:off x="6172200" y="2121408"/>
            <a:ext cx="2377440" cy="82296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health records linked to 93 crore+ ABHA accounts (Jul 2026): a national records backbone.</a:t>
            </a:r>
            <a:endParaRPr lang="en-US" sz="1050" dirty="0"/>
          </a:p>
        </p:txBody>
      </p:sp>
      <p:sp>
        <p:nvSpPr>
          <p:cNvPr id="24" name="Shape 22"/>
          <p:cNvSpPr/>
          <p:nvPr/>
        </p:nvSpPr>
        <p:spPr>
          <a:xfrm>
            <a:off x="6035040" y="3063240"/>
            <a:ext cx="2651760" cy="1508760"/>
          </a:xfrm>
          <a:prstGeom prst="rect">
            <a:avLst/>
          </a:prstGeom>
          <a:solidFill>
            <a:srgbClr val="F2F5F8"/>
          </a:solidFill>
          <a:ln/>
        </p:spPr>
      </p:sp>
      <p:sp>
        <p:nvSpPr>
          <p:cNvPr id="25" name="Text 23"/>
          <p:cNvSpPr txBox="1"/>
          <p:nvPr/>
        </p:nvSpPr>
        <p:spPr>
          <a:xfrm>
            <a:off x="6172200" y="3154680"/>
            <a:ext cx="2377440" cy="502920"/>
          </a:xfrm>
          <a:prstGeom prst="rect">
            <a:avLst/>
          </a:prstGeom>
          <a:noFill/>
          <a:ln/>
        </p:spPr>
        <p:txBody>
          <a:bodyPr wrap="square" lIns="0" tIns="0" rIns="0" bIns="0" rtlCol="0" anchor="ctr"/>
          <a:lstStyle/>
          <a:p>
            <a:pPr marL="0" indent="0">
              <a:buNone/>
            </a:pPr>
            <a:r>
              <a:rPr lang="en-US" sz="2600" b="1" dirty="0">
                <a:solidFill>
                  <a:srgbClr val="0B2545"/>
                </a:solidFill>
                <a:latin typeface="Calibri" pitchFamily="34" charset="0"/>
                <a:ea typeface="Calibri" pitchFamily="34" charset="-122"/>
                <a:cs typeface="Calibri" pitchFamily="34" charset="-120"/>
              </a:rPr>
              <a:t>The gap</a:t>
            </a:r>
            <a:endParaRPr lang="en-US" sz="2600" dirty="0"/>
          </a:p>
        </p:txBody>
      </p:sp>
      <p:sp>
        <p:nvSpPr>
          <p:cNvPr id="26" name="Text 24"/>
          <p:cNvSpPr txBox="1"/>
          <p:nvPr/>
        </p:nvSpPr>
        <p:spPr>
          <a:xfrm>
            <a:off x="6172200" y="3721608"/>
            <a:ext cx="2377440" cy="82296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AI X-ray and digital records exist, but we found no public evidence they work as one loop for triage, referral, follow-up and planning (our analysis).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100" b="1" dirty="0">
                <a:solidFill>
                  <a:srgbClr val="0B2545"/>
                </a:solidFill>
                <a:latin typeface="Calibri" pitchFamily="34" charset="0"/>
                <a:ea typeface="Calibri" pitchFamily="34" charset="-122"/>
                <a:cs typeface="Calibri" pitchFamily="34" charset="-120"/>
              </a:rPr>
              <a:t>One connected loop: from village X-ray to doctor’s decision, and back to learning</a:t>
            </a:r>
            <a:endParaRPr lang="en-US" sz="2100" dirty="0"/>
          </a:p>
        </p:txBody>
      </p:sp>
      <p:sp>
        <p:nvSpPr>
          <p:cNvPr id="3" name="Shape 1"/>
          <p:cNvSpPr/>
          <p:nvPr/>
        </p:nvSpPr>
        <p:spPr>
          <a:xfrm>
            <a:off x="457200" y="1051560"/>
            <a:ext cx="1234440" cy="1051560"/>
          </a:xfrm>
          <a:prstGeom prst="rect">
            <a:avLst/>
          </a:prstGeom>
          <a:solidFill>
            <a:srgbClr val="0B2545"/>
          </a:solidFill>
          <a:ln/>
        </p:spPr>
      </p:sp>
      <p:sp>
        <p:nvSpPr>
          <p:cNvPr id="4" name="Text 2"/>
          <p:cNvSpPr txBox="1"/>
          <p:nvPr/>
        </p:nvSpPr>
        <p:spPr>
          <a:xfrm>
            <a:off x="521208" y="1115568"/>
            <a:ext cx="1106424" cy="41148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1 Patient &amp; provider data</a:t>
            </a:r>
            <a:endParaRPr lang="en-US" sz="1000" dirty="0"/>
          </a:p>
        </p:txBody>
      </p:sp>
      <p:sp>
        <p:nvSpPr>
          <p:cNvPr id="5" name="Text 3"/>
          <p:cNvSpPr txBox="1"/>
          <p:nvPr/>
        </p:nvSpPr>
        <p:spPr>
          <a:xfrm>
            <a:off x="521208" y="1554480"/>
            <a:ext cx="1106424" cy="502920"/>
          </a:xfrm>
          <a:prstGeom prst="rect">
            <a:avLst/>
          </a:prstGeom>
          <a:noFill/>
          <a:ln/>
        </p:spPr>
        <p:txBody>
          <a:bodyPr wrap="square" lIns="0" tIns="0" rIns="0" bIns="0" rtlCol="0" anchor="t"/>
          <a:lstStyle/>
          <a:p>
            <a:pPr marL="0" indent="0">
              <a:buNone/>
            </a:pPr>
            <a:r>
              <a:rPr lang="en-US" sz="850" dirty="0">
                <a:solidFill>
                  <a:srgbClr val="D6E4F0"/>
                </a:solidFill>
                <a:latin typeface="Calibri" pitchFamily="34" charset="0"/>
                <a:ea typeface="Calibri" pitchFamily="34" charset="-122"/>
                <a:cs typeface="Calibri" pitchFamily="34" charset="-120"/>
              </a:rPr>
              <a:t>X-ray, symptoms, labs, records (ABHA, with consent)</a:t>
            </a:r>
            <a:endParaRPr lang="en-US" sz="850" dirty="0"/>
          </a:p>
        </p:txBody>
      </p:sp>
      <p:sp>
        <p:nvSpPr>
          <p:cNvPr id="6" name="Text 4"/>
          <p:cNvSpPr txBox="1"/>
          <p:nvPr/>
        </p:nvSpPr>
        <p:spPr>
          <a:xfrm>
            <a:off x="1691640" y="1417320"/>
            <a:ext cx="164592" cy="274320"/>
          </a:xfrm>
          <a:prstGeom prst="rect">
            <a:avLst/>
          </a:prstGeom>
          <a:noFill/>
          <a:ln/>
        </p:spPr>
        <p:txBody>
          <a:bodyPr wrap="square" lIns="0" tIns="0" rIns="0" bIns="0" rtlCol="0" anchor="t"/>
          <a:lstStyle/>
          <a:p>
            <a:pPr marL="0" indent="0" algn="ctr">
              <a:buNone/>
            </a:pPr>
            <a:r>
              <a:rPr lang="en-US" sz="1400" b="1" dirty="0">
                <a:solidFill>
                  <a:srgbClr val="13A89E"/>
                </a:solidFill>
                <a:latin typeface="Calibri" pitchFamily="34" charset="0"/>
                <a:ea typeface="Calibri" pitchFamily="34" charset="-122"/>
                <a:cs typeface="Calibri" pitchFamily="34" charset="-120"/>
              </a:rPr>
              <a:t>&gt;</a:t>
            </a:r>
            <a:endParaRPr lang="en-US" sz="1400" dirty="0"/>
          </a:p>
        </p:txBody>
      </p:sp>
      <p:sp>
        <p:nvSpPr>
          <p:cNvPr id="7" name="Shape 5"/>
          <p:cNvSpPr/>
          <p:nvPr/>
        </p:nvSpPr>
        <p:spPr>
          <a:xfrm>
            <a:off x="1856232" y="1051560"/>
            <a:ext cx="1234440" cy="1051560"/>
          </a:xfrm>
          <a:prstGeom prst="rect">
            <a:avLst/>
          </a:prstGeom>
          <a:solidFill>
            <a:srgbClr val="0B2545"/>
          </a:solidFill>
          <a:ln/>
        </p:spPr>
      </p:sp>
      <p:sp>
        <p:nvSpPr>
          <p:cNvPr id="8" name="Text 6"/>
          <p:cNvSpPr txBox="1"/>
          <p:nvPr/>
        </p:nvSpPr>
        <p:spPr>
          <a:xfrm>
            <a:off x="1920240" y="1115568"/>
            <a:ext cx="1106424" cy="41148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2 Secure quality checks</a:t>
            </a:r>
            <a:endParaRPr lang="en-US" sz="1000" dirty="0"/>
          </a:p>
        </p:txBody>
      </p:sp>
      <p:sp>
        <p:nvSpPr>
          <p:cNvPr id="9" name="Text 7"/>
          <p:cNvSpPr txBox="1"/>
          <p:nvPr/>
        </p:nvSpPr>
        <p:spPr>
          <a:xfrm>
            <a:off x="1920240" y="1554480"/>
            <a:ext cx="1106424" cy="502920"/>
          </a:xfrm>
          <a:prstGeom prst="rect">
            <a:avLst/>
          </a:prstGeom>
          <a:noFill/>
          <a:ln/>
        </p:spPr>
        <p:txBody>
          <a:bodyPr wrap="square" lIns="0" tIns="0" rIns="0" bIns="0" rtlCol="0" anchor="t"/>
          <a:lstStyle/>
          <a:p>
            <a:pPr marL="0" indent="0">
              <a:buNone/>
            </a:pPr>
            <a:r>
              <a:rPr lang="en-US" sz="850" dirty="0">
                <a:solidFill>
                  <a:srgbClr val="D6E4F0"/>
                </a:solidFill>
                <a:latin typeface="Calibri" pitchFamily="34" charset="0"/>
                <a:ea typeface="Calibri" pitchFamily="34" charset="-122"/>
                <a:cs typeface="Calibri" pitchFamily="34" charset="-120"/>
              </a:rPr>
              <a:t>Fix missing data, match records, control access</a:t>
            </a:r>
            <a:endParaRPr lang="en-US" sz="850" dirty="0"/>
          </a:p>
        </p:txBody>
      </p:sp>
      <p:sp>
        <p:nvSpPr>
          <p:cNvPr id="10" name="Text 8"/>
          <p:cNvSpPr txBox="1"/>
          <p:nvPr/>
        </p:nvSpPr>
        <p:spPr>
          <a:xfrm>
            <a:off x="3090672" y="1417320"/>
            <a:ext cx="164592" cy="274320"/>
          </a:xfrm>
          <a:prstGeom prst="rect">
            <a:avLst/>
          </a:prstGeom>
          <a:noFill/>
          <a:ln/>
        </p:spPr>
        <p:txBody>
          <a:bodyPr wrap="square" lIns="0" tIns="0" rIns="0" bIns="0" rtlCol="0" anchor="t"/>
          <a:lstStyle/>
          <a:p>
            <a:pPr marL="0" indent="0" algn="ctr">
              <a:buNone/>
            </a:pPr>
            <a:r>
              <a:rPr lang="en-US" sz="1400" b="1" dirty="0">
                <a:solidFill>
                  <a:srgbClr val="13A89E"/>
                </a:solidFill>
                <a:latin typeface="Calibri" pitchFamily="34" charset="0"/>
                <a:ea typeface="Calibri" pitchFamily="34" charset="-122"/>
                <a:cs typeface="Calibri" pitchFamily="34" charset="-120"/>
              </a:rPr>
              <a:t>&gt;</a:t>
            </a:r>
            <a:endParaRPr lang="en-US" sz="1400" dirty="0"/>
          </a:p>
        </p:txBody>
      </p:sp>
      <p:sp>
        <p:nvSpPr>
          <p:cNvPr id="11" name="Shape 9"/>
          <p:cNvSpPr/>
          <p:nvPr/>
        </p:nvSpPr>
        <p:spPr>
          <a:xfrm>
            <a:off x="3255264" y="1051560"/>
            <a:ext cx="1234440" cy="1051560"/>
          </a:xfrm>
          <a:prstGeom prst="rect">
            <a:avLst/>
          </a:prstGeom>
          <a:solidFill>
            <a:srgbClr val="0B2545"/>
          </a:solidFill>
          <a:ln/>
        </p:spPr>
      </p:sp>
      <p:sp>
        <p:nvSpPr>
          <p:cNvPr id="12" name="Text 10"/>
          <p:cNvSpPr txBox="1"/>
          <p:nvPr/>
        </p:nvSpPr>
        <p:spPr>
          <a:xfrm>
            <a:off x="3319272" y="1115568"/>
            <a:ext cx="1106424" cy="41148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3 Models + knowledge</a:t>
            </a:r>
            <a:endParaRPr lang="en-US" sz="1000" dirty="0"/>
          </a:p>
        </p:txBody>
      </p:sp>
      <p:sp>
        <p:nvSpPr>
          <p:cNvPr id="13" name="Text 11"/>
          <p:cNvSpPr txBox="1"/>
          <p:nvPr/>
        </p:nvSpPr>
        <p:spPr>
          <a:xfrm>
            <a:off x="3319272" y="1554480"/>
            <a:ext cx="1106424" cy="502920"/>
          </a:xfrm>
          <a:prstGeom prst="rect">
            <a:avLst/>
          </a:prstGeom>
          <a:noFill/>
          <a:ln/>
        </p:spPr>
        <p:txBody>
          <a:bodyPr wrap="square" lIns="0" tIns="0" rIns="0" bIns="0" rtlCol="0" anchor="t"/>
          <a:lstStyle/>
          <a:p>
            <a:pPr marL="0" indent="0">
              <a:buNone/>
            </a:pPr>
            <a:r>
              <a:rPr lang="en-US" sz="850" dirty="0">
                <a:solidFill>
                  <a:srgbClr val="D6E4F0"/>
                </a:solidFill>
                <a:latin typeface="Calibri" pitchFamily="34" charset="0"/>
                <a:ea typeface="Calibri" pitchFamily="34" charset="-122"/>
                <a:cs typeface="Calibri" pitchFamily="34" charset="-120"/>
              </a:rPr>
              <a:t>Image AI, rules, knowledge graph, forecasts</a:t>
            </a:r>
            <a:endParaRPr lang="en-US" sz="850" dirty="0"/>
          </a:p>
        </p:txBody>
      </p:sp>
      <p:sp>
        <p:nvSpPr>
          <p:cNvPr id="14" name="Text 12"/>
          <p:cNvSpPr txBox="1"/>
          <p:nvPr/>
        </p:nvSpPr>
        <p:spPr>
          <a:xfrm>
            <a:off x="4489704" y="1417320"/>
            <a:ext cx="164592" cy="274320"/>
          </a:xfrm>
          <a:prstGeom prst="rect">
            <a:avLst/>
          </a:prstGeom>
          <a:noFill/>
          <a:ln/>
        </p:spPr>
        <p:txBody>
          <a:bodyPr wrap="square" lIns="0" tIns="0" rIns="0" bIns="0" rtlCol="0" anchor="t"/>
          <a:lstStyle/>
          <a:p>
            <a:pPr marL="0" indent="0" algn="ctr">
              <a:buNone/>
            </a:pPr>
            <a:r>
              <a:rPr lang="en-US" sz="1400" b="1" dirty="0">
                <a:solidFill>
                  <a:srgbClr val="13A89E"/>
                </a:solidFill>
                <a:latin typeface="Calibri" pitchFamily="34" charset="0"/>
                <a:ea typeface="Calibri" pitchFamily="34" charset="-122"/>
                <a:cs typeface="Calibri" pitchFamily="34" charset="-120"/>
              </a:rPr>
              <a:t>&gt;</a:t>
            </a:r>
            <a:endParaRPr lang="en-US" sz="1400" dirty="0"/>
          </a:p>
        </p:txBody>
      </p:sp>
      <p:sp>
        <p:nvSpPr>
          <p:cNvPr id="15" name="Shape 13"/>
          <p:cNvSpPr/>
          <p:nvPr/>
        </p:nvSpPr>
        <p:spPr>
          <a:xfrm>
            <a:off x="4654296" y="1051560"/>
            <a:ext cx="1234440" cy="1051560"/>
          </a:xfrm>
          <a:prstGeom prst="rect">
            <a:avLst/>
          </a:prstGeom>
          <a:solidFill>
            <a:srgbClr val="0B2545"/>
          </a:solidFill>
          <a:ln/>
        </p:spPr>
      </p:sp>
      <p:sp>
        <p:nvSpPr>
          <p:cNvPr id="16" name="Text 14"/>
          <p:cNvSpPr txBox="1"/>
          <p:nvPr/>
        </p:nvSpPr>
        <p:spPr>
          <a:xfrm>
            <a:off x="4718304" y="1115568"/>
            <a:ext cx="1106424" cy="41148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4 Alerts &amp; suggestions</a:t>
            </a:r>
            <a:endParaRPr lang="en-US" sz="1000" dirty="0"/>
          </a:p>
        </p:txBody>
      </p:sp>
      <p:sp>
        <p:nvSpPr>
          <p:cNvPr id="17" name="Text 15"/>
          <p:cNvSpPr txBox="1"/>
          <p:nvPr/>
        </p:nvSpPr>
        <p:spPr>
          <a:xfrm>
            <a:off x="4718304" y="1554480"/>
            <a:ext cx="1106424" cy="502920"/>
          </a:xfrm>
          <a:prstGeom prst="rect">
            <a:avLst/>
          </a:prstGeom>
          <a:noFill/>
          <a:ln/>
        </p:spPr>
        <p:txBody>
          <a:bodyPr wrap="square" lIns="0" tIns="0" rIns="0" bIns="0" rtlCol="0" anchor="t"/>
          <a:lstStyle/>
          <a:p>
            <a:pPr marL="0" indent="0">
              <a:buNone/>
            </a:pPr>
            <a:r>
              <a:rPr lang="en-US" sz="850" dirty="0">
                <a:solidFill>
                  <a:srgbClr val="D6E4F0"/>
                </a:solidFill>
                <a:latin typeface="Calibri" pitchFamily="34" charset="0"/>
                <a:ea typeface="Calibri" pitchFamily="34" charset="-122"/>
                <a:cs typeface="Calibri" pitchFamily="34" charset="-120"/>
              </a:rPr>
              <a:t>Risk flag, next test, resource forecasts</a:t>
            </a:r>
            <a:endParaRPr lang="en-US" sz="850" dirty="0"/>
          </a:p>
        </p:txBody>
      </p:sp>
      <p:sp>
        <p:nvSpPr>
          <p:cNvPr id="18" name="Text 16"/>
          <p:cNvSpPr txBox="1"/>
          <p:nvPr/>
        </p:nvSpPr>
        <p:spPr>
          <a:xfrm>
            <a:off x="5888736" y="1417320"/>
            <a:ext cx="164592" cy="274320"/>
          </a:xfrm>
          <a:prstGeom prst="rect">
            <a:avLst/>
          </a:prstGeom>
          <a:noFill/>
          <a:ln/>
        </p:spPr>
        <p:txBody>
          <a:bodyPr wrap="square" lIns="0" tIns="0" rIns="0" bIns="0" rtlCol="0" anchor="t"/>
          <a:lstStyle/>
          <a:p>
            <a:pPr marL="0" indent="0" algn="ctr">
              <a:buNone/>
            </a:pPr>
            <a:r>
              <a:rPr lang="en-US" sz="1400" b="1" dirty="0">
                <a:solidFill>
                  <a:srgbClr val="13A89E"/>
                </a:solidFill>
                <a:latin typeface="Calibri" pitchFamily="34" charset="0"/>
                <a:ea typeface="Calibri" pitchFamily="34" charset="-122"/>
                <a:cs typeface="Calibri" pitchFamily="34" charset="-120"/>
              </a:rPr>
              <a:t>&gt;</a:t>
            </a:r>
            <a:endParaRPr lang="en-US" sz="1400" dirty="0"/>
          </a:p>
        </p:txBody>
      </p:sp>
      <p:sp>
        <p:nvSpPr>
          <p:cNvPr id="19" name="Shape 17"/>
          <p:cNvSpPr/>
          <p:nvPr/>
        </p:nvSpPr>
        <p:spPr>
          <a:xfrm>
            <a:off x="6053328" y="1051560"/>
            <a:ext cx="1234440" cy="1051560"/>
          </a:xfrm>
          <a:prstGeom prst="rect">
            <a:avLst/>
          </a:prstGeom>
          <a:solidFill>
            <a:srgbClr val="13A89E"/>
          </a:solidFill>
          <a:ln/>
        </p:spPr>
      </p:sp>
      <p:sp>
        <p:nvSpPr>
          <p:cNvPr id="20" name="Text 18"/>
          <p:cNvSpPr txBox="1"/>
          <p:nvPr/>
        </p:nvSpPr>
        <p:spPr>
          <a:xfrm>
            <a:off x="6117336" y="1115568"/>
            <a:ext cx="1106424" cy="41148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5 Humans decide</a:t>
            </a:r>
            <a:endParaRPr lang="en-US" sz="1000" dirty="0"/>
          </a:p>
        </p:txBody>
      </p:sp>
      <p:sp>
        <p:nvSpPr>
          <p:cNvPr id="21" name="Text 19"/>
          <p:cNvSpPr txBox="1"/>
          <p:nvPr/>
        </p:nvSpPr>
        <p:spPr>
          <a:xfrm>
            <a:off x="6117336" y="1554480"/>
            <a:ext cx="1106424" cy="502920"/>
          </a:xfrm>
          <a:prstGeom prst="rect">
            <a:avLst/>
          </a:prstGeom>
          <a:noFill/>
          <a:ln/>
        </p:spPr>
        <p:txBody>
          <a:bodyPr wrap="square" lIns="0" tIns="0" rIns="0" bIns="0" rtlCol="0" anchor="t"/>
          <a:lstStyle/>
          <a:p>
            <a:pPr marL="0" indent="0">
              <a:buNone/>
            </a:pPr>
            <a:r>
              <a:rPr lang="en-US" sz="850" dirty="0">
                <a:solidFill>
                  <a:srgbClr val="D6E4F0"/>
                </a:solidFill>
                <a:latin typeface="Calibri" pitchFamily="34" charset="0"/>
                <a:ea typeface="Calibri" pitchFamily="34" charset="-122"/>
                <a:cs typeface="Calibri" pitchFamily="34" charset="-120"/>
              </a:rPr>
              <a:t>Doctor and health team act</a:t>
            </a:r>
            <a:endParaRPr lang="en-US" sz="850" dirty="0"/>
          </a:p>
        </p:txBody>
      </p:sp>
      <p:sp>
        <p:nvSpPr>
          <p:cNvPr id="22" name="Text 20"/>
          <p:cNvSpPr txBox="1"/>
          <p:nvPr/>
        </p:nvSpPr>
        <p:spPr>
          <a:xfrm>
            <a:off x="7287768" y="1417320"/>
            <a:ext cx="164592" cy="274320"/>
          </a:xfrm>
          <a:prstGeom prst="rect">
            <a:avLst/>
          </a:prstGeom>
          <a:noFill/>
          <a:ln/>
        </p:spPr>
        <p:txBody>
          <a:bodyPr wrap="square" lIns="0" tIns="0" rIns="0" bIns="0" rtlCol="0" anchor="t"/>
          <a:lstStyle/>
          <a:p>
            <a:pPr marL="0" indent="0" algn="ctr">
              <a:buNone/>
            </a:pPr>
            <a:r>
              <a:rPr lang="en-US" sz="1400" b="1" dirty="0">
                <a:solidFill>
                  <a:srgbClr val="13A89E"/>
                </a:solidFill>
                <a:latin typeface="Calibri" pitchFamily="34" charset="0"/>
                <a:ea typeface="Calibri" pitchFamily="34" charset="-122"/>
                <a:cs typeface="Calibri" pitchFamily="34" charset="-120"/>
              </a:rPr>
              <a:t>&gt;</a:t>
            </a:r>
            <a:endParaRPr lang="en-US" sz="1400" dirty="0"/>
          </a:p>
        </p:txBody>
      </p:sp>
      <p:sp>
        <p:nvSpPr>
          <p:cNvPr id="23" name="Shape 21"/>
          <p:cNvSpPr/>
          <p:nvPr/>
        </p:nvSpPr>
        <p:spPr>
          <a:xfrm>
            <a:off x="7452360" y="1051560"/>
            <a:ext cx="1234440" cy="1051560"/>
          </a:xfrm>
          <a:prstGeom prst="rect">
            <a:avLst/>
          </a:prstGeom>
          <a:solidFill>
            <a:srgbClr val="0B2545"/>
          </a:solidFill>
          <a:ln/>
        </p:spPr>
      </p:sp>
      <p:sp>
        <p:nvSpPr>
          <p:cNvPr id="24" name="Text 22"/>
          <p:cNvSpPr txBox="1"/>
          <p:nvPr/>
        </p:nvSpPr>
        <p:spPr>
          <a:xfrm>
            <a:off x="7516368" y="1115568"/>
            <a:ext cx="1106424" cy="41148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6 Monitor &amp; improve</a:t>
            </a:r>
            <a:endParaRPr lang="en-US" sz="1000" dirty="0"/>
          </a:p>
        </p:txBody>
      </p:sp>
      <p:sp>
        <p:nvSpPr>
          <p:cNvPr id="25" name="Text 23"/>
          <p:cNvSpPr txBox="1"/>
          <p:nvPr/>
        </p:nvSpPr>
        <p:spPr>
          <a:xfrm>
            <a:off x="7516368" y="1554480"/>
            <a:ext cx="1106424" cy="502920"/>
          </a:xfrm>
          <a:prstGeom prst="rect">
            <a:avLst/>
          </a:prstGeom>
          <a:noFill/>
          <a:ln/>
        </p:spPr>
        <p:txBody>
          <a:bodyPr wrap="square" lIns="0" tIns="0" rIns="0" bIns="0" rtlCol="0" anchor="t"/>
          <a:lstStyle/>
          <a:p>
            <a:pPr marL="0" indent="0">
              <a:buNone/>
            </a:pPr>
            <a:r>
              <a:rPr lang="en-US" sz="850" dirty="0">
                <a:solidFill>
                  <a:srgbClr val="D6E4F0"/>
                </a:solidFill>
                <a:latin typeface="Calibri" pitchFamily="34" charset="0"/>
                <a:ea typeface="Calibri" pitchFamily="34" charset="-122"/>
                <a:cs typeface="Calibri" pitchFamily="34" charset="-120"/>
              </a:rPr>
              <a:t>Accuracy, fairness, drift, outcomes</a:t>
            </a:r>
            <a:endParaRPr lang="en-US" sz="850" dirty="0"/>
          </a:p>
        </p:txBody>
      </p:sp>
      <p:sp>
        <p:nvSpPr>
          <p:cNvPr id="26" name="Shape 24"/>
          <p:cNvSpPr/>
          <p:nvPr/>
        </p:nvSpPr>
        <p:spPr>
          <a:xfrm>
            <a:off x="457200" y="2286000"/>
            <a:ext cx="2651760" cy="2057400"/>
          </a:xfrm>
          <a:prstGeom prst="rect">
            <a:avLst/>
          </a:prstGeom>
          <a:solidFill>
            <a:srgbClr val="F2F5F8"/>
          </a:solidFill>
          <a:ln/>
        </p:spPr>
      </p:sp>
      <p:sp>
        <p:nvSpPr>
          <p:cNvPr id="27" name="Text 25"/>
          <p:cNvSpPr txBox="1"/>
          <p:nvPr/>
        </p:nvSpPr>
        <p:spPr>
          <a:xfrm>
            <a:off x="594360" y="2359152"/>
            <a:ext cx="2377440" cy="292608"/>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A  Early detection</a:t>
            </a:r>
            <a:endParaRPr lang="en-US" sz="1400" dirty="0"/>
          </a:p>
        </p:txBody>
      </p:sp>
      <p:sp>
        <p:nvSpPr>
          <p:cNvPr id="28" name="Text 26"/>
          <p:cNvSpPr txBox="1"/>
          <p:nvPr/>
        </p:nvSpPr>
        <p:spPr>
          <a:xfrm>
            <a:off x="594360" y="2697480"/>
            <a:ext cx="2377440" cy="914400"/>
          </a:xfrm>
          <a:prstGeom prst="rect">
            <a:avLst/>
          </a:prstGeom>
          <a:noFill/>
          <a:ln/>
        </p:spPr>
        <p:txBody>
          <a:bodyPr wrap="square" lIns="0" tIns="0" rIns="0" bIns="0" rtlCol="0" anchor="t"/>
          <a:lstStyle/>
          <a:p>
            <a:pPr marL="0" indent="0">
              <a:buNone/>
            </a:pPr>
            <a:r>
              <a:rPr lang="en-US" sz="1100" dirty="0">
                <a:solidFill>
                  <a:srgbClr val="1B2A3A"/>
                </a:solidFill>
                <a:latin typeface="Calibri" pitchFamily="34" charset="0"/>
                <a:ea typeface="Calibri" pitchFamily="34" charset="-122"/>
                <a:cs typeface="Calibri" pitchFamily="34" charset="-120"/>
              </a:rPr>
              <a:t>AI reads the chest X-ray and gives a TB-likelihood score. A high score means “needs a confirmatory test”, not a diagnosis.</a:t>
            </a:r>
            <a:endParaRPr lang="en-US" sz="1100" dirty="0"/>
          </a:p>
        </p:txBody>
      </p:sp>
      <p:sp>
        <p:nvSpPr>
          <p:cNvPr id="29" name="Shape 27"/>
          <p:cNvSpPr/>
          <p:nvPr/>
        </p:nvSpPr>
        <p:spPr>
          <a:xfrm>
            <a:off x="594360" y="3657600"/>
            <a:ext cx="960120" cy="182880"/>
          </a:xfrm>
          <a:prstGeom prst="roundRect">
            <a:avLst>
              <a:gd name="adj" fmla="val 25000"/>
            </a:avLst>
          </a:prstGeom>
          <a:solidFill>
            <a:srgbClr val="13A89E"/>
          </a:solidFill>
          <a:ln/>
        </p:spPr>
      </p:sp>
      <p:sp>
        <p:nvSpPr>
          <p:cNvPr id="30" name="Text 28"/>
          <p:cNvSpPr txBox="1"/>
          <p:nvPr/>
        </p:nvSpPr>
        <p:spPr>
          <a:xfrm>
            <a:off x="594360" y="365760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EXISTS TODAY</a:t>
            </a:r>
            <a:endParaRPr lang="en-US" sz="750" dirty="0"/>
          </a:p>
        </p:txBody>
      </p:sp>
      <p:sp>
        <p:nvSpPr>
          <p:cNvPr id="31" name="Shape 29"/>
          <p:cNvSpPr/>
          <p:nvPr/>
        </p:nvSpPr>
        <p:spPr>
          <a:xfrm>
            <a:off x="1645920" y="3657600"/>
            <a:ext cx="960120" cy="182880"/>
          </a:xfrm>
          <a:prstGeom prst="roundRect">
            <a:avLst>
              <a:gd name="adj" fmla="val 25000"/>
            </a:avLst>
          </a:prstGeom>
          <a:solidFill>
            <a:srgbClr val="E8A33D"/>
          </a:solidFill>
          <a:ln/>
        </p:spPr>
      </p:sp>
      <p:sp>
        <p:nvSpPr>
          <p:cNvPr id="32" name="Text 30"/>
          <p:cNvSpPr txBox="1"/>
          <p:nvPr/>
        </p:nvSpPr>
        <p:spPr>
          <a:xfrm>
            <a:off x="1645920" y="365760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33" name="Text 31"/>
          <p:cNvSpPr txBox="1"/>
          <p:nvPr/>
        </p:nvSpPr>
        <p:spPr>
          <a:xfrm>
            <a:off x="594360" y="3886200"/>
            <a:ext cx="2377440" cy="411480"/>
          </a:xfrm>
          <a:prstGeom prst="rect">
            <a:avLst/>
          </a:prstGeom>
          <a:noFill/>
          <a:ln/>
        </p:spPr>
        <p:txBody>
          <a:bodyPr wrap="square" lIns="0" tIns="0" rIns="0" bIns="0" rtlCol="0" anchor="t"/>
          <a:lstStyle/>
          <a:p>
            <a:pPr marL="0" indent="0">
              <a:buNone/>
            </a:pPr>
            <a:r>
              <a:rPr lang="en-US" sz="850" dirty="0">
                <a:solidFill>
                  <a:srgbClr val="5B6B7B"/>
                </a:solidFill>
                <a:latin typeface="Calibri" pitchFamily="34" charset="0"/>
                <a:ea typeface="Calibri" pitchFamily="34" charset="-122"/>
                <a:cs typeface="Calibri" pitchFamily="34" charset="-120"/>
              </a:rPr>
              <a:t>AI X-ray is in India’s TB programme; we add linked records and doctor review.</a:t>
            </a:r>
            <a:endParaRPr lang="en-US" sz="850" dirty="0"/>
          </a:p>
        </p:txBody>
      </p:sp>
      <p:sp>
        <p:nvSpPr>
          <p:cNvPr id="34" name="Shape 32"/>
          <p:cNvSpPr/>
          <p:nvPr/>
        </p:nvSpPr>
        <p:spPr>
          <a:xfrm>
            <a:off x="3246120" y="2286000"/>
            <a:ext cx="2651760" cy="2057400"/>
          </a:xfrm>
          <a:prstGeom prst="rect">
            <a:avLst/>
          </a:prstGeom>
          <a:solidFill>
            <a:srgbClr val="F2F5F8"/>
          </a:solidFill>
          <a:ln/>
        </p:spPr>
      </p:sp>
      <p:sp>
        <p:nvSpPr>
          <p:cNvPr id="35" name="Text 33"/>
          <p:cNvSpPr txBox="1"/>
          <p:nvPr/>
        </p:nvSpPr>
        <p:spPr>
          <a:xfrm>
            <a:off x="3383280" y="2359152"/>
            <a:ext cx="2377440" cy="292608"/>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B  Coordinated care</a:t>
            </a:r>
            <a:endParaRPr lang="en-US" sz="1400" dirty="0"/>
          </a:p>
        </p:txBody>
      </p:sp>
      <p:sp>
        <p:nvSpPr>
          <p:cNvPr id="36" name="Text 34"/>
          <p:cNvSpPr txBox="1"/>
          <p:nvPr/>
        </p:nvSpPr>
        <p:spPr>
          <a:xfrm>
            <a:off x="3383280" y="2697480"/>
            <a:ext cx="2377440" cy="914400"/>
          </a:xfrm>
          <a:prstGeom prst="rect">
            <a:avLst/>
          </a:prstGeom>
          <a:noFill/>
          <a:ln/>
        </p:spPr>
        <p:txBody>
          <a:bodyPr wrap="square" lIns="0" tIns="0" rIns="0" bIns="0" rtlCol="0" anchor="t"/>
          <a:lstStyle/>
          <a:p>
            <a:pPr marL="0" indent="0">
              <a:buNone/>
            </a:pPr>
            <a:r>
              <a:rPr lang="en-US" sz="1100" dirty="0">
                <a:solidFill>
                  <a:srgbClr val="1B2A3A"/>
                </a:solidFill>
                <a:latin typeface="Calibri" pitchFamily="34" charset="0"/>
                <a:ea typeface="Calibri" pitchFamily="34" charset="-122"/>
                <a:cs typeface="Calibri" pitchFamily="34" charset="-120"/>
              </a:rPr>
              <a:t>Programme rules + knowledge graph + uncertainty suggest the next test and follow-up. The doctor decides.</a:t>
            </a:r>
            <a:endParaRPr lang="en-US" sz="1100" dirty="0"/>
          </a:p>
        </p:txBody>
      </p:sp>
      <p:sp>
        <p:nvSpPr>
          <p:cNvPr id="37" name="Shape 35"/>
          <p:cNvSpPr/>
          <p:nvPr/>
        </p:nvSpPr>
        <p:spPr>
          <a:xfrm>
            <a:off x="3383280" y="3657600"/>
            <a:ext cx="960120" cy="182880"/>
          </a:xfrm>
          <a:prstGeom prst="roundRect">
            <a:avLst>
              <a:gd name="adj" fmla="val 25000"/>
            </a:avLst>
          </a:prstGeom>
          <a:solidFill>
            <a:srgbClr val="E8A33D"/>
          </a:solidFill>
          <a:ln/>
        </p:spPr>
      </p:sp>
      <p:sp>
        <p:nvSpPr>
          <p:cNvPr id="38" name="Text 36"/>
          <p:cNvSpPr txBox="1"/>
          <p:nvPr/>
        </p:nvSpPr>
        <p:spPr>
          <a:xfrm>
            <a:off x="3383280" y="365760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39" name="Text 37"/>
          <p:cNvSpPr txBox="1"/>
          <p:nvPr/>
        </p:nvSpPr>
        <p:spPr>
          <a:xfrm>
            <a:off x="3383280" y="3886200"/>
            <a:ext cx="2377440" cy="411480"/>
          </a:xfrm>
          <a:prstGeom prst="rect">
            <a:avLst/>
          </a:prstGeom>
          <a:noFill/>
          <a:ln/>
        </p:spPr>
        <p:txBody>
          <a:bodyPr wrap="square" lIns="0" tIns="0" rIns="0" bIns="0" rtlCol="0" anchor="t"/>
          <a:lstStyle/>
          <a:p>
            <a:pPr marL="0" indent="0">
              <a:buNone/>
            </a:pPr>
            <a:r>
              <a:rPr lang="en-US" sz="850" dirty="0">
                <a:solidFill>
                  <a:srgbClr val="5B6B7B"/>
                </a:solidFill>
                <a:latin typeface="Calibri" pitchFamily="34" charset="0"/>
                <a:ea typeface="Calibri" pitchFamily="34" charset="-122"/>
                <a:cs typeface="Calibri" pitchFamily="34" charset="-120"/>
              </a:rPr>
              <a:t>Unified rules, graph and follow-up tracking are new.</a:t>
            </a:r>
            <a:endParaRPr lang="en-US" sz="850" dirty="0"/>
          </a:p>
        </p:txBody>
      </p:sp>
      <p:sp>
        <p:nvSpPr>
          <p:cNvPr id="40" name="Shape 38"/>
          <p:cNvSpPr/>
          <p:nvPr/>
        </p:nvSpPr>
        <p:spPr>
          <a:xfrm>
            <a:off x="6035040" y="2286000"/>
            <a:ext cx="2651760" cy="2057400"/>
          </a:xfrm>
          <a:prstGeom prst="rect">
            <a:avLst/>
          </a:prstGeom>
          <a:solidFill>
            <a:srgbClr val="F2F5F8"/>
          </a:solidFill>
          <a:ln/>
        </p:spPr>
      </p:sp>
      <p:sp>
        <p:nvSpPr>
          <p:cNvPr id="41" name="Text 39"/>
          <p:cNvSpPr txBox="1"/>
          <p:nvPr/>
        </p:nvSpPr>
        <p:spPr>
          <a:xfrm>
            <a:off x="6172200" y="2359152"/>
            <a:ext cx="2377440" cy="292608"/>
          </a:xfrm>
          <a:prstGeom prst="rect">
            <a:avLst/>
          </a:prstGeom>
          <a:noFill/>
          <a:ln/>
        </p:spPr>
        <p:txBody>
          <a:bodyPr wrap="square" lIns="0" tIns="0" rIns="0" bIns="0" rtlCol="0" anchor="t"/>
          <a:lstStyle/>
          <a:p>
            <a:pPr marL="0" indent="0">
              <a:buNone/>
            </a:pPr>
            <a:r>
              <a:rPr lang="en-US" sz="1400" b="1" dirty="0">
                <a:solidFill>
                  <a:srgbClr val="0B2545"/>
                </a:solidFill>
                <a:latin typeface="Calibri" pitchFamily="34" charset="0"/>
                <a:ea typeface="Calibri" pitchFamily="34" charset="-122"/>
                <a:cs typeface="Calibri" pitchFamily="34" charset="-120"/>
              </a:rPr>
              <a:t>C  Resource planning</a:t>
            </a:r>
            <a:endParaRPr lang="en-US" sz="1400" dirty="0"/>
          </a:p>
        </p:txBody>
      </p:sp>
      <p:sp>
        <p:nvSpPr>
          <p:cNvPr id="42" name="Text 40"/>
          <p:cNvSpPr txBox="1"/>
          <p:nvPr/>
        </p:nvSpPr>
        <p:spPr>
          <a:xfrm>
            <a:off x="6172200" y="2697480"/>
            <a:ext cx="2377440" cy="914400"/>
          </a:xfrm>
          <a:prstGeom prst="rect">
            <a:avLst/>
          </a:prstGeom>
          <a:noFill/>
          <a:ln/>
        </p:spPr>
        <p:txBody>
          <a:bodyPr wrap="square" lIns="0" tIns="0" rIns="0" bIns="0" rtlCol="0" anchor="t"/>
          <a:lstStyle/>
          <a:p>
            <a:pPr marL="0" indent="0">
              <a:buNone/>
            </a:pPr>
            <a:r>
              <a:rPr lang="en-US" sz="1100" dirty="0">
                <a:solidFill>
                  <a:srgbClr val="1B2A3A"/>
                </a:solidFill>
                <a:latin typeface="Calibri" pitchFamily="34" charset="0"/>
                <a:ea typeface="Calibri" pitchFamily="34" charset="-122"/>
                <a:cs typeface="Calibri" pitchFamily="34" charset="-120"/>
              </a:rPr>
              <a:t>Forecast X-ray, lab and test-kit demand; schedule referrals and follow-up across facilities.</a:t>
            </a:r>
            <a:endParaRPr lang="en-US" sz="1100" dirty="0"/>
          </a:p>
        </p:txBody>
      </p:sp>
      <p:sp>
        <p:nvSpPr>
          <p:cNvPr id="43" name="Shape 41"/>
          <p:cNvSpPr/>
          <p:nvPr/>
        </p:nvSpPr>
        <p:spPr>
          <a:xfrm>
            <a:off x="6172200" y="3657600"/>
            <a:ext cx="960120" cy="182880"/>
          </a:xfrm>
          <a:prstGeom prst="roundRect">
            <a:avLst>
              <a:gd name="adj" fmla="val 25000"/>
            </a:avLst>
          </a:prstGeom>
          <a:solidFill>
            <a:srgbClr val="E8A33D"/>
          </a:solidFill>
          <a:ln/>
        </p:spPr>
      </p:sp>
      <p:sp>
        <p:nvSpPr>
          <p:cNvPr id="44" name="Text 42"/>
          <p:cNvSpPr txBox="1"/>
          <p:nvPr/>
        </p:nvSpPr>
        <p:spPr>
          <a:xfrm>
            <a:off x="6172200" y="365760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45" name="Text 43"/>
          <p:cNvSpPr txBox="1"/>
          <p:nvPr/>
        </p:nvSpPr>
        <p:spPr>
          <a:xfrm>
            <a:off x="6172200" y="3886200"/>
            <a:ext cx="2377440" cy="411480"/>
          </a:xfrm>
          <a:prstGeom prst="rect">
            <a:avLst/>
          </a:prstGeom>
          <a:noFill/>
          <a:ln/>
        </p:spPr>
        <p:txBody>
          <a:bodyPr wrap="square" lIns="0" tIns="0" rIns="0" bIns="0" rtlCol="0" anchor="t"/>
          <a:lstStyle/>
          <a:p>
            <a:pPr marL="0" indent="0">
              <a:buNone/>
            </a:pPr>
            <a:r>
              <a:rPr lang="en-US" sz="850" dirty="0">
                <a:solidFill>
                  <a:srgbClr val="5B6B7B"/>
                </a:solidFill>
                <a:latin typeface="Calibri" pitchFamily="34" charset="0"/>
                <a:ea typeface="Calibri" pitchFamily="34" charset="-122"/>
                <a:cs typeface="Calibri" pitchFamily="34" charset="-120"/>
              </a:rPr>
              <a:t>Forecasting across facilities is new.</a:t>
            </a:r>
            <a:endParaRPr lang="en-US" sz="850" dirty="0"/>
          </a:p>
        </p:txBody>
      </p:sp>
      <p:sp>
        <p:nvSpPr>
          <p:cNvPr id="46" name="Shape 44"/>
          <p:cNvSpPr/>
          <p:nvPr/>
        </p:nvSpPr>
        <p:spPr>
          <a:xfrm>
            <a:off x="457200" y="4434840"/>
            <a:ext cx="8229600" cy="347472"/>
          </a:xfrm>
          <a:prstGeom prst="rect">
            <a:avLst/>
          </a:prstGeom>
          <a:solidFill>
            <a:srgbClr val="E3F4F2"/>
          </a:solidFill>
          <a:ln/>
        </p:spPr>
      </p:sp>
      <p:sp>
        <p:nvSpPr>
          <p:cNvPr id="47" name="Text 45"/>
          <p:cNvSpPr txBox="1"/>
          <p:nvPr/>
        </p:nvSpPr>
        <p:spPr>
          <a:xfrm>
            <a:off x="548640" y="4434840"/>
            <a:ext cx="8046720" cy="347472"/>
          </a:xfrm>
          <a:prstGeom prst="rect">
            <a:avLst/>
          </a:prstGeom>
          <a:noFill/>
          <a:ln/>
        </p:spPr>
        <p:txBody>
          <a:bodyPr wrap="square" lIns="0" tIns="0" rIns="0" bIns="0" rtlCol="0" anchor="ctr"/>
          <a:lstStyle/>
          <a:p>
            <a:pPr marL="0" indent="0">
              <a:buNone/>
            </a:pPr>
            <a:r>
              <a:rPr lang="en-US" sz="850" dirty="0">
                <a:solidFill>
                  <a:srgbClr val="1B2A3A"/>
                </a:solidFill>
                <a:latin typeface="Calibri" pitchFamily="34" charset="0"/>
                <a:ea typeface="Calibri" pitchFamily="34" charset="-122"/>
                <a:cs typeface="Calibri" pitchFamily="34" charset="-120"/>
              </a:rPr>
              <a:t>Real examples of building blocks (not our proposal, no endorsement): Apollo’s AICVD cardiac risk model | Siemens Healthineers AI-Rad Companion | Practo’s ABDM-compliant records software</a:t>
            </a:r>
            <a:endParaRPr lang="en-US" sz="850" dirty="0"/>
          </a:p>
        </p:txBody>
      </p:sp>
      <p:sp>
        <p:nvSpPr>
          <p:cNvPr id="48" name="Text 46"/>
          <p:cNvSpPr txBox="1"/>
          <p:nvPr/>
        </p:nvSpPr>
        <p:spPr>
          <a:xfrm>
            <a:off x="457200" y="4828032"/>
            <a:ext cx="8229600" cy="228600"/>
          </a:xfrm>
          <a:prstGeom prst="rect">
            <a:avLst/>
          </a:prstGeom>
          <a:noFill/>
          <a:ln/>
        </p:spPr>
        <p:txBody>
          <a:bodyPr wrap="square" lIns="0" tIns="0" rIns="0" bIns="0" rtlCol="0" anchor="t"/>
          <a:lstStyle/>
          <a:p>
            <a:pPr marL="0" indent="0">
              <a:buNone/>
            </a:pPr>
            <a:r>
              <a:rPr lang="en-US" sz="800" dirty="0">
                <a:solidFill>
                  <a:srgbClr val="5B6B7B"/>
                </a:solidFill>
                <a:latin typeface="Calibri" pitchFamily="34" charset="0"/>
                <a:ea typeface="Calibri" pitchFamily="34" charset="-122"/>
                <a:cs typeface="Calibri" pitchFamily="34" charset="-120"/>
              </a:rPr>
              <a:t>Loop and modules are our proposal. We start with TB in a few districts; the same loop could later extend to conditions such as diabetes or heart disease.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100" b="1" dirty="0">
                <a:solidFill>
                  <a:srgbClr val="0B2545"/>
                </a:solidFill>
                <a:latin typeface="Calibri" pitchFamily="34" charset="0"/>
                <a:ea typeface="Calibri" pitchFamily="34" charset="-122"/>
                <a:cs typeface="Calibri" pitchFamily="34" charset="-120"/>
              </a:rPr>
              <a:t>Each task gets the technique that fits it: learn, reason, represent, generate</a:t>
            </a:r>
            <a:endParaRPr lang="en-US" sz="2100" dirty="0"/>
          </a:p>
        </p:txBody>
      </p:sp>
      <p:sp>
        <p:nvSpPr>
          <p:cNvPr id="3" name="Shape 1"/>
          <p:cNvSpPr/>
          <p:nvPr/>
        </p:nvSpPr>
        <p:spPr>
          <a:xfrm>
            <a:off x="457200" y="1051560"/>
            <a:ext cx="2651760" cy="1691640"/>
          </a:xfrm>
          <a:prstGeom prst="rect">
            <a:avLst/>
          </a:prstGeom>
          <a:solidFill>
            <a:srgbClr val="F2F5F8"/>
          </a:solidFill>
          <a:ln/>
        </p:spPr>
      </p:sp>
      <p:sp>
        <p:nvSpPr>
          <p:cNvPr id="4" name="Shape 2"/>
          <p:cNvSpPr/>
          <p:nvPr/>
        </p:nvSpPr>
        <p:spPr>
          <a:xfrm>
            <a:off x="457200" y="1051560"/>
            <a:ext cx="64008" cy="1691640"/>
          </a:xfrm>
          <a:prstGeom prst="rect">
            <a:avLst/>
          </a:prstGeom>
          <a:solidFill>
            <a:srgbClr val="13A89E"/>
          </a:solidFill>
          <a:ln/>
        </p:spPr>
      </p:sp>
      <p:sp>
        <p:nvSpPr>
          <p:cNvPr id="5" name="Text 3"/>
          <p:cNvSpPr txBox="1"/>
          <p:nvPr/>
        </p:nvSpPr>
        <p:spPr>
          <a:xfrm>
            <a:off x="640080" y="1143000"/>
            <a:ext cx="1691640" cy="41148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Deep learning (neural network)</a:t>
            </a:r>
            <a:endParaRPr lang="en-US" sz="1150" dirty="0"/>
          </a:p>
        </p:txBody>
      </p:sp>
      <p:sp>
        <p:nvSpPr>
          <p:cNvPr id="6" name="Text 4"/>
          <p:cNvSpPr txBox="1"/>
          <p:nvPr/>
        </p:nvSpPr>
        <p:spPr>
          <a:xfrm>
            <a:off x="2194560" y="1161288"/>
            <a:ext cx="777240" cy="228600"/>
          </a:xfrm>
          <a:prstGeom prst="rect">
            <a:avLst/>
          </a:prstGeom>
          <a:noFill/>
          <a:ln/>
        </p:spPr>
        <p:txBody>
          <a:bodyPr wrap="square" lIns="0" tIns="0" rIns="0" bIns="0" rtlCol="0" anchor="t"/>
          <a:lstStyle/>
          <a:p>
            <a:pPr marL="0" indent="0" algn="r">
              <a:buNone/>
            </a:pPr>
            <a:r>
              <a:rPr lang="en-US" sz="850" b="1" dirty="0">
                <a:solidFill>
                  <a:srgbClr val="13A89E"/>
                </a:solidFill>
                <a:latin typeface="Calibri" pitchFamily="34" charset="0"/>
                <a:ea typeface="Calibri" pitchFamily="34" charset="-122"/>
                <a:cs typeface="Calibri" pitchFamily="34" charset="-120"/>
              </a:rPr>
              <a:t>LEARN</a:t>
            </a:r>
            <a:endParaRPr lang="en-US" sz="850" dirty="0"/>
          </a:p>
        </p:txBody>
      </p:sp>
      <p:sp>
        <p:nvSpPr>
          <p:cNvPr id="7" name="Text 5"/>
          <p:cNvSpPr txBox="1"/>
          <p:nvPr/>
        </p:nvSpPr>
        <p:spPr>
          <a:xfrm>
            <a:off x="640080" y="1600200"/>
            <a:ext cx="2377440" cy="50292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Reads the X-ray image and outputs a TB-likelihood score (Module A).</a:t>
            </a:r>
            <a:endParaRPr lang="en-US" sz="1050" dirty="0"/>
          </a:p>
        </p:txBody>
      </p:sp>
      <p:sp>
        <p:nvSpPr>
          <p:cNvPr id="8" name="Text 6"/>
          <p:cNvSpPr txBox="1"/>
          <p:nvPr/>
        </p:nvSpPr>
        <p:spPr>
          <a:xfrm>
            <a:off x="640080" y="2148840"/>
            <a:ext cx="2377440" cy="548640"/>
          </a:xfrm>
          <a:prstGeom prst="rect">
            <a:avLst/>
          </a:prstGeom>
          <a:noFill/>
          <a:ln/>
        </p:spPr>
        <p:txBody>
          <a:bodyPr wrap="square" lIns="0" tIns="0" rIns="0" bIns="0" rtlCol="0" anchor="t"/>
          <a:lstStyle/>
          <a:p>
            <a:pPr marL="0" indent="0">
              <a:buNone/>
            </a:pPr>
            <a:r>
              <a:rPr lang="en-US" sz="950" i="1" dirty="0">
                <a:solidFill>
                  <a:srgbClr val="5B6B7B"/>
                </a:solidFill>
                <a:latin typeface="Calibri" pitchFamily="34" charset="0"/>
                <a:ea typeface="Calibri" pitchFamily="34" charset="-122"/>
                <a:cs typeface="Calibri" pitchFamily="34" charset="-120"/>
              </a:rPr>
              <a:t>Limit: Accuracy varies by setting and threshold; test locally.</a:t>
            </a:r>
            <a:endParaRPr lang="en-US" sz="950" dirty="0"/>
          </a:p>
        </p:txBody>
      </p:sp>
      <p:sp>
        <p:nvSpPr>
          <p:cNvPr id="9" name="Shape 7"/>
          <p:cNvSpPr/>
          <p:nvPr/>
        </p:nvSpPr>
        <p:spPr>
          <a:xfrm>
            <a:off x="3246120" y="1051560"/>
            <a:ext cx="2651760" cy="1691640"/>
          </a:xfrm>
          <a:prstGeom prst="rect">
            <a:avLst/>
          </a:prstGeom>
          <a:solidFill>
            <a:srgbClr val="F2F5F8"/>
          </a:solidFill>
          <a:ln/>
        </p:spPr>
      </p:sp>
      <p:sp>
        <p:nvSpPr>
          <p:cNvPr id="10" name="Shape 8"/>
          <p:cNvSpPr/>
          <p:nvPr/>
        </p:nvSpPr>
        <p:spPr>
          <a:xfrm>
            <a:off x="3246120" y="1051560"/>
            <a:ext cx="64008" cy="1691640"/>
          </a:xfrm>
          <a:prstGeom prst="rect">
            <a:avLst/>
          </a:prstGeom>
          <a:solidFill>
            <a:srgbClr val="13A89E"/>
          </a:solidFill>
          <a:ln/>
        </p:spPr>
      </p:sp>
      <p:sp>
        <p:nvSpPr>
          <p:cNvPr id="11" name="Text 9"/>
          <p:cNvSpPr txBox="1"/>
          <p:nvPr/>
        </p:nvSpPr>
        <p:spPr>
          <a:xfrm>
            <a:off x="3429000" y="1143000"/>
            <a:ext cx="1691640" cy="41148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Supervised ML</a:t>
            </a:r>
            <a:endParaRPr lang="en-US" sz="1150" dirty="0"/>
          </a:p>
        </p:txBody>
      </p:sp>
      <p:sp>
        <p:nvSpPr>
          <p:cNvPr id="12" name="Text 10"/>
          <p:cNvSpPr txBox="1"/>
          <p:nvPr/>
        </p:nvSpPr>
        <p:spPr>
          <a:xfrm>
            <a:off x="4983480" y="1161288"/>
            <a:ext cx="777240" cy="228600"/>
          </a:xfrm>
          <a:prstGeom prst="rect">
            <a:avLst/>
          </a:prstGeom>
          <a:noFill/>
          <a:ln/>
        </p:spPr>
        <p:txBody>
          <a:bodyPr wrap="square" lIns="0" tIns="0" rIns="0" bIns="0" rtlCol="0" anchor="t"/>
          <a:lstStyle/>
          <a:p>
            <a:pPr marL="0" indent="0" algn="r">
              <a:buNone/>
            </a:pPr>
            <a:r>
              <a:rPr lang="en-US" sz="850" b="1" dirty="0">
                <a:solidFill>
                  <a:srgbClr val="13A89E"/>
                </a:solidFill>
                <a:latin typeface="Calibri" pitchFamily="34" charset="0"/>
                <a:ea typeface="Calibri" pitchFamily="34" charset="-122"/>
                <a:cs typeface="Calibri" pitchFamily="34" charset="-120"/>
              </a:rPr>
              <a:t>LEARN</a:t>
            </a:r>
            <a:endParaRPr lang="en-US" sz="850" dirty="0"/>
          </a:p>
        </p:txBody>
      </p:sp>
      <p:sp>
        <p:nvSpPr>
          <p:cNvPr id="13" name="Text 11"/>
          <p:cNvSpPr txBox="1"/>
          <p:nvPr/>
        </p:nvSpPr>
        <p:spPr>
          <a:xfrm>
            <a:off x="3429000" y="1600200"/>
            <a:ext cx="2377440" cy="50292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Learns from labelled past cases to estimate risk and forecast demand (A, C).</a:t>
            </a:r>
            <a:endParaRPr lang="en-US" sz="1050" dirty="0"/>
          </a:p>
        </p:txBody>
      </p:sp>
      <p:sp>
        <p:nvSpPr>
          <p:cNvPr id="14" name="Text 12"/>
          <p:cNvSpPr txBox="1"/>
          <p:nvPr/>
        </p:nvSpPr>
        <p:spPr>
          <a:xfrm>
            <a:off x="3429000" y="2148840"/>
            <a:ext cx="2377440" cy="548640"/>
          </a:xfrm>
          <a:prstGeom prst="rect">
            <a:avLst/>
          </a:prstGeom>
          <a:noFill/>
          <a:ln/>
        </p:spPr>
        <p:txBody>
          <a:bodyPr wrap="square" lIns="0" tIns="0" rIns="0" bIns="0" rtlCol="0" anchor="t"/>
          <a:lstStyle/>
          <a:p>
            <a:pPr marL="0" indent="0">
              <a:buNone/>
            </a:pPr>
            <a:r>
              <a:rPr lang="en-US" sz="950" i="1" dirty="0">
                <a:solidFill>
                  <a:srgbClr val="5B6B7B"/>
                </a:solidFill>
                <a:latin typeface="Calibri" pitchFamily="34" charset="0"/>
                <a:ea typeface="Calibri" pitchFamily="34" charset="-122"/>
                <a:cs typeface="Calibri" pitchFamily="34" charset="-120"/>
              </a:rPr>
              <a:t>Limit: Needs representative data, including rural patients.</a:t>
            </a:r>
            <a:endParaRPr lang="en-US" sz="950" dirty="0"/>
          </a:p>
        </p:txBody>
      </p:sp>
      <p:sp>
        <p:nvSpPr>
          <p:cNvPr id="15" name="Shape 13"/>
          <p:cNvSpPr/>
          <p:nvPr/>
        </p:nvSpPr>
        <p:spPr>
          <a:xfrm>
            <a:off x="6035040" y="1051560"/>
            <a:ext cx="2651760" cy="1691640"/>
          </a:xfrm>
          <a:prstGeom prst="rect">
            <a:avLst/>
          </a:prstGeom>
          <a:solidFill>
            <a:srgbClr val="F2F5F8"/>
          </a:solidFill>
          <a:ln/>
        </p:spPr>
      </p:sp>
      <p:sp>
        <p:nvSpPr>
          <p:cNvPr id="16" name="Shape 14"/>
          <p:cNvSpPr/>
          <p:nvPr/>
        </p:nvSpPr>
        <p:spPr>
          <a:xfrm>
            <a:off x="6035040" y="1051560"/>
            <a:ext cx="64008" cy="1691640"/>
          </a:xfrm>
          <a:prstGeom prst="rect">
            <a:avLst/>
          </a:prstGeom>
          <a:solidFill>
            <a:srgbClr val="13A89E"/>
          </a:solidFill>
          <a:ln/>
        </p:spPr>
      </p:sp>
      <p:sp>
        <p:nvSpPr>
          <p:cNvPr id="17" name="Text 15"/>
          <p:cNvSpPr txBox="1"/>
          <p:nvPr/>
        </p:nvSpPr>
        <p:spPr>
          <a:xfrm>
            <a:off x="6217920" y="1143000"/>
            <a:ext cx="1691640" cy="41148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Probabilistic reasoning</a:t>
            </a:r>
            <a:endParaRPr lang="en-US" sz="1150" dirty="0"/>
          </a:p>
        </p:txBody>
      </p:sp>
      <p:sp>
        <p:nvSpPr>
          <p:cNvPr id="18" name="Text 16"/>
          <p:cNvSpPr txBox="1"/>
          <p:nvPr/>
        </p:nvSpPr>
        <p:spPr>
          <a:xfrm>
            <a:off x="7772400" y="1161288"/>
            <a:ext cx="777240" cy="228600"/>
          </a:xfrm>
          <a:prstGeom prst="rect">
            <a:avLst/>
          </a:prstGeom>
          <a:noFill/>
          <a:ln/>
        </p:spPr>
        <p:txBody>
          <a:bodyPr wrap="square" lIns="0" tIns="0" rIns="0" bIns="0" rtlCol="0" anchor="t"/>
          <a:lstStyle/>
          <a:p>
            <a:pPr marL="0" indent="0" algn="r">
              <a:buNone/>
            </a:pPr>
            <a:r>
              <a:rPr lang="en-US" sz="850" b="1" dirty="0">
                <a:solidFill>
                  <a:srgbClr val="13A89E"/>
                </a:solidFill>
                <a:latin typeface="Calibri" pitchFamily="34" charset="0"/>
                <a:ea typeface="Calibri" pitchFamily="34" charset="-122"/>
                <a:cs typeface="Calibri" pitchFamily="34" charset="-120"/>
              </a:rPr>
              <a:t>REASON</a:t>
            </a:r>
            <a:endParaRPr lang="en-US" sz="850" dirty="0"/>
          </a:p>
        </p:txBody>
      </p:sp>
      <p:sp>
        <p:nvSpPr>
          <p:cNvPr id="19" name="Text 17"/>
          <p:cNvSpPr txBox="1"/>
          <p:nvPr/>
        </p:nvSpPr>
        <p:spPr>
          <a:xfrm>
            <a:off x="6217920" y="1600200"/>
            <a:ext cx="2377440" cy="50292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Shows a probability with uncertainty, not yes/no.</a:t>
            </a:r>
            <a:endParaRPr lang="en-US" sz="1050" dirty="0"/>
          </a:p>
        </p:txBody>
      </p:sp>
      <p:sp>
        <p:nvSpPr>
          <p:cNvPr id="20" name="Text 18"/>
          <p:cNvSpPr txBox="1"/>
          <p:nvPr/>
        </p:nvSpPr>
        <p:spPr>
          <a:xfrm>
            <a:off x="6217920" y="2148840"/>
            <a:ext cx="2377440" cy="548640"/>
          </a:xfrm>
          <a:prstGeom prst="rect">
            <a:avLst/>
          </a:prstGeom>
          <a:noFill/>
          <a:ln/>
        </p:spPr>
        <p:txBody>
          <a:bodyPr wrap="square" lIns="0" tIns="0" rIns="0" bIns="0" rtlCol="0" anchor="t"/>
          <a:lstStyle/>
          <a:p>
            <a:pPr marL="0" indent="0">
              <a:buNone/>
            </a:pPr>
            <a:r>
              <a:rPr lang="en-US" sz="950" i="1" dirty="0">
                <a:solidFill>
                  <a:srgbClr val="5B6B7B"/>
                </a:solidFill>
                <a:latin typeface="Calibri" pitchFamily="34" charset="0"/>
                <a:ea typeface="Calibri" pitchFamily="34" charset="-122"/>
                <a:cs typeface="Calibri" pitchFamily="34" charset="-120"/>
              </a:rPr>
              <a:t>Limit: Needs calibrated scores; can be over-trusted.</a:t>
            </a:r>
            <a:endParaRPr lang="en-US" sz="950" dirty="0"/>
          </a:p>
        </p:txBody>
      </p:sp>
      <p:sp>
        <p:nvSpPr>
          <p:cNvPr id="21" name="Shape 19"/>
          <p:cNvSpPr/>
          <p:nvPr/>
        </p:nvSpPr>
        <p:spPr>
          <a:xfrm>
            <a:off x="457200" y="2834640"/>
            <a:ext cx="2651760" cy="1691640"/>
          </a:xfrm>
          <a:prstGeom prst="rect">
            <a:avLst/>
          </a:prstGeom>
          <a:solidFill>
            <a:srgbClr val="F2F5F8"/>
          </a:solidFill>
          <a:ln/>
        </p:spPr>
      </p:sp>
      <p:sp>
        <p:nvSpPr>
          <p:cNvPr id="22" name="Shape 20"/>
          <p:cNvSpPr/>
          <p:nvPr/>
        </p:nvSpPr>
        <p:spPr>
          <a:xfrm>
            <a:off x="457200" y="2834640"/>
            <a:ext cx="64008" cy="1691640"/>
          </a:xfrm>
          <a:prstGeom prst="rect">
            <a:avLst/>
          </a:prstGeom>
          <a:solidFill>
            <a:srgbClr val="13A89E"/>
          </a:solidFill>
          <a:ln/>
        </p:spPr>
      </p:sp>
      <p:sp>
        <p:nvSpPr>
          <p:cNvPr id="23" name="Text 21"/>
          <p:cNvSpPr txBox="1"/>
          <p:nvPr/>
        </p:nvSpPr>
        <p:spPr>
          <a:xfrm>
            <a:off x="640080" y="2926080"/>
            <a:ext cx="1691640" cy="41148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Expert system (rules)</a:t>
            </a:r>
            <a:endParaRPr lang="en-US" sz="1150" dirty="0"/>
          </a:p>
        </p:txBody>
      </p:sp>
      <p:sp>
        <p:nvSpPr>
          <p:cNvPr id="24" name="Text 22"/>
          <p:cNvSpPr txBox="1"/>
          <p:nvPr/>
        </p:nvSpPr>
        <p:spPr>
          <a:xfrm>
            <a:off x="2194560" y="2944368"/>
            <a:ext cx="777240" cy="228600"/>
          </a:xfrm>
          <a:prstGeom prst="rect">
            <a:avLst/>
          </a:prstGeom>
          <a:noFill/>
          <a:ln/>
        </p:spPr>
        <p:txBody>
          <a:bodyPr wrap="square" lIns="0" tIns="0" rIns="0" bIns="0" rtlCol="0" anchor="t"/>
          <a:lstStyle/>
          <a:p>
            <a:pPr marL="0" indent="0" algn="r">
              <a:buNone/>
            </a:pPr>
            <a:r>
              <a:rPr lang="en-US" sz="850" b="1" dirty="0">
                <a:solidFill>
                  <a:srgbClr val="13A89E"/>
                </a:solidFill>
                <a:latin typeface="Calibri" pitchFamily="34" charset="0"/>
                <a:ea typeface="Calibri" pitchFamily="34" charset="-122"/>
                <a:cs typeface="Calibri" pitchFamily="34" charset="-120"/>
              </a:rPr>
              <a:t>REASON</a:t>
            </a:r>
            <a:endParaRPr lang="en-US" sz="850" dirty="0"/>
          </a:p>
        </p:txBody>
      </p:sp>
      <p:sp>
        <p:nvSpPr>
          <p:cNvPr id="25" name="Text 23"/>
          <p:cNvSpPr txBox="1"/>
          <p:nvPr/>
        </p:nvSpPr>
        <p:spPr>
          <a:xfrm>
            <a:off x="640080" y="3383280"/>
            <a:ext cx="2377440" cy="50292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Encodes programme rules: high score = confirmatory test, notify.</a:t>
            </a:r>
            <a:endParaRPr lang="en-US" sz="1050" dirty="0"/>
          </a:p>
        </p:txBody>
      </p:sp>
      <p:sp>
        <p:nvSpPr>
          <p:cNvPr id="26" name="Text 24"/>
          <p:cNvSpPr txBox="1"/>
          <p:nvPr/>
        </p:nvSpPr>
        <p:spPr>
          <a:xfrm>
            <a:off x="640080" y="3931920"/>
            <a:ext cx="2377440" cy="548640"/>
          </a:xfrm>
          <a:prstGeom prst="rect">
            <a:avLst/>
          </a:prstGeom>
          <a:noFill/>
          <a:ln/>
        </p:spPr>
        <p:txBody>
          <a:bodyPr wrap="square" lIns="0" tIns="0" rIns="0" bIns="0" rtlCol="0" anchor="t"/>
          <a:lstStyle/>
          <a:p>
            <a:pPr marL="0" indent="0">
              <a:buNone/>
            </a:pPr>
            <a:r>
              <a:rPr lang="en-US" sz="950" i="1" dirty="0">
                <a:solidFill>
                  <a:srgbClr val="5B6B7B"/>
                </a:solidFill>
                <a:latin typeface="Calibri" pitchFamily="34" charset="0"/>
                <a:ea typeface="Calibri" pitchFamily="34" charset="-122"/>
                <a:cs typeface="Calibri" pitchFamily="34" charset="-120"/>
              </a:rPr>
              <a:t>Limit: Rigid; cannot learn new patterns.</a:t>
            </a:r>
            <a:endParaRPr lang="en-US" sz="950" dirty="0"/>
          </a:p>
        </p:txBody>
      </p:sp>
      <p:sp>
        <p:nvSpPr>
          <p:cNvPr id="27" name="Shape 25"/>
          <p:cNvSpPr/>
          <p:nvPr/>
        </p:nvSpPr>
        <p:spPr>
          <a:xfrm>
            <a:off x="3246120" y="2834640"/>
            <a:ext cx="2651760" cy="1691640"/>
          </a:xfrm>
          <a:prstGeom prst="rect">
            <a:avLst/>
          </a:prstGeom>
          <a:solidFill>
            <a:srgbClr val="F2F5F8"/>
          </a:solidFill>
          <a:ln/>
        </p:spPr>
      </p:sp>
      <p:sp>
        <p:nvSpPr>
          <p:cNvPr id="28" name="Shape 26"/>
          <p:cNvSpPr/>
          <p:nvPr/>
        </p:nvSpPr>
        <p:spPr>
          <a:xfrm>
            <a:off x="3246120" y="2834640"/>
            <a:ext cx="64008" cy="1691640"/>
          </a:xfrm>
          <a:prstGeom prst="rect">
            <a:avLst/>
          </a:prstGeom>
          <a:solidFill>
            <a:srgbClr val="0B2545"/>
          </a:solidFill>
          <a:ln/>
        </p:spPr>
      </p:sp>
      <p:sp>
        <p:nvSpPr>
          <p:cNvPr id="29" name="Text 27"/>
          <p:cNvSpPr txBox="1"/>
          <p:nvPr/>
        </p:nvSpPr>
        <p:spPr>
          <a:xfrm>
            <a:off x="3429000" y="2926080"/>
            <a:ext cx="1691640" cy="41148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Knowledge graph + ontology</a:t>
            </a:r>
            <a:endParaRPr lang="en-US" sz="1150" dirty="0"/>
          </a:p>
        </p:txBody>
      </p:sp>
      <p:sp>
        <p:nvSpPr>
          <p:cNvPr id="30" name="Text 28"/>
          <p:cNvSpPr txBox="1"/>
          <p:nvPr/>
        </p:nvSpPr>
        <p:spPr>
          <a:xfrm>
            <a:off x="4983480" y="2944368"/>
            <a:ext cx="777240" cy="228600"/>
          </a:xfrm>
          <a:prstGeom prst="rect">
            <a:avLst/>
          </a:prstGeom>
          <a:noFill/>
          <a:ln/>
        </p:spPr>
        <p:txBody>
          <a:bodyPr wrap="square" lIns="0" tIns="0" rIns="0" bIns="0" rtlCol="0" anchor="t"/>
          <a:lstStyle/>
          <a:p>
            <a:pPr marL="0" indent="0" algn="r">
              <a:buNone/>
            </a:pPr>
            <a:r>
              <a:rPr lang="en-US" sz="850" b="1" dirty="0">
                <a:solidFill>
                  <a:srgbClr val="13A89E"/>
                </a:solidFill>
                <a:latin typeface="Calibri" pitchFamily="34" charset="0"/>
                <a:ea typeface="Calibri" pitchFamily="34" charset="-122"/>
                <a:cs typeface="Calibri" pitchFamily="34" charset="-120"/>
              </a:rPr>
              <a:t>REPRESENT</a:t>
            </a:r>
            <a:endParaRPr lang="en-US" sz="850" dirty="0"/>
          </a:p>
        </p:txBody>
      </p:sp>
      <p:sp>
        <p:nvSpPr>
          <p:cNvPr id="31" name="Text 29"/>
          <p:cNvSpPr txBox="1"/>
          <p:nvPr/>
        </p:nvSpPr>
        <p:spPr>
          <a:xfrm>
            <a:off x="3429000" y="3383280"/>
            <a:ext cx="2377440" cy="50292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Links symptoms, tests, drugs, facilities in a shared vocabulary (B).</a:t>
            </a:r>
            <a:endParaRPr lang="en-US" sz="1050" dirty="0"/>
          </a:p>
        </p:txBody>
      </p:sp>
      <p:sp>
        <p:nvSpPr>
          <p:cNvPr id="32" name="Text 30"/>
          <p:cNvSpPr txBox="1"/>
          <p:nvPr/>
        </p:nvSpPr>
        <p:spPr>
          <a:xfrm>
            <a:off x="3429000" y="3931920"/>
            <a:ext cx="2377440" cy="548640"/>
          </a:xfrm>
          <a:prstGeom prst="rect">
            <a:avLst/>
          </a:prstGeom>
          <a:noFill/>
          <a:ln/>
        </p:spPr>
        <p:txBody>
          <a:bodyPr wrap="square" lIns="0" tIns="0" rIns="0" bIns="0" rtlCol="0" anchor="t"/>
          <a:lstStyle/>
          <a:p>
            <a:pPr marL="0" indent="0">
              <a:buNone/>
            </a:pPr>
            <a:r>
              <a:rPr lang="en-US" sz="950" i="1" dirty="0">
                <a:solidFill>
                  <a:srgbClr val="5B6B7B"/>
                </a:solidFill>
                <a:latin typeface="Calibri" pitchFamily="34" charset="0"/>
                <a:ea typeface="Calibri" pitchFamily="34" charset="-122"/>
                <a:cs typeface="Calibri" pitchFamily="34" charset="-120"/>
              </a:rPr>
              <a:t>Limit: Costly to build and keep current.</a:t>
            </a:r>
            <a:endParaRPr lang="en-US" sz="950" dirty="0"/>
          </a:p>
        </p:txBody>
      </p:sp>
      <p:sp>
        <p:nvSpPr>
          <p:cNvPr id="33" name="Shape 31"/>
          <p:cNvSpPr/>
          <p:nvPr/>
        </p:nvSpPr>
        <p:spPr>
          <a:xfrm>
            <a:off x="6035040" y="2834640"/>
            <a:ext cx="2651760" cy="1691640"/>
          </a:xfrm>
          <a:prstGeom prst="rect">
            <a:avLst/>
          </a:prstGeom>
          <a:solidFill>
            <a:srgbClr val="F2F5F8"/>
          </a:solidFill>
          <a:ln/>
        </p:spPr>
      </p:sp>
      <p:sp>
        <p:nvSpPr>
          <p:cNvPr id="34" name="Shape 32"/>
          <p:cNvSpPr/>
          <p:nvPr/>
        </p:nvSpPr>
        <p:spPr>
          <a:xfrm>
            <a:off x="6035040" y="2834640"/>
            <a:ext cx="64008" cy="1691640"/>
          </a:xfrm>
          <a:prstGeom prst="rect">
            <a:avLst/>
          </a:prstGeom>
          <a:solidFill>
            <a:srgbClr val="0B2545"/>
          </a:solidFill>
          <a:ln/>
        </p:spPr>
      </p:sp>
      <p:sp>
        <p:nvSpPr>
          <p:cNvPr id="35" name="Text 33"/>
          <p:cNvSpPr txBox="1"/>
          <p:nvPr/>
        </p:nvSpPr>
        <p:spPr>
          <a:xfrm>
            <a:off x="6217920" y="2926080"/>
            <a:ext cx="1691640" cy="41148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Generative AI</a:t>
            </a:r>
            <a:endParaRPr lang="en-US" sz="1150" dirty="0"/>
          </a:p>
        </p:txBody>
      </p:sp>
      <p:sp>
        <p:nvSpPr>
          <p:cNvPr id="36" name="Text 34"/>
          <p:cNvSpPr txBox="1"/>
          <p:nvPr/>
        </p:nvSpPr>
        <p:spPr>
          <a:xfrm>
            <a:off x="7772400" y="2944368"/>
            <a:ext cx="777240" cy="228600"/>
          </a:xfrm>
          <a:prstGeom prst="rect">
            <a:avLst/>
          </a:prstGeom>
          <a:noFill/>
          <a:ln/>
        </p:spPr>
        <p:txBody>
          <a:bodyPr wrap="square" lIns="0" tIns="0" rIns="0" bIns="0" rtlCol="0" anchor="t"/>
          <a:lstStyle/>
          <a:p>
            <a:pPr marL="0" indent="0" algn="r">
              <a:buNone/>
            </a:pPr>
            <a:r>
              <a:rPr lang="en-US" sz="850" b="1" dirty="0">
                <a:solidFill>
                  <a:srgbClr val="13A89E"/>
                </a:solidFill>
                <a:latin typeface="Calibri" pitchFamily="34" charset="0"/>
                <a:ea typeface="Calibri" pitchFamily="34" charset="-122"/>
                <a:cs typeface="Calibri" pitchFamily="34" charset="-120"/>
              </a:rPr>
              <a:t>GENERATE</a:t>
            </a:r>
            <a:endParaRPr lang="en-US" sz="850" dirty="0"/>
          </a:p>
        </p:txBody>
      </p:sp>
      <p:sp>
        <p:nvSpPr>
          <p:cNvPr id="37" name="Text 35"/>
          <p:cNvSpPr txBox="1"/>
          <p:nvPr/>
        </p:nvSpPr>
        <p:spPr>
          <a:xfrm>
            <a:off x="6217920" y="3383280"/>
            <a:ext cx="2377440" cy="50292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Drafts referral summaries from approved records only.</a:t>
            </a:r>
            <a:endParaRPr lang="en-US" sz="1050" dirty="0"/>
          </a:p>
        </p:txBody>
      </p:sp>
      <p:sp>
        <p:nvSpPr>
          <p:cNvPr id="38" name="Text 36"/>
          <p:cNvSpPr txBox="1"/>
          <p:nvPr/>
        </p:nvSpPr>
        <p:spPr>
          <a:xfrm>
            <a:off x="6217920" y="3931920"/>
            <a:ext cx="2377440" cy="548640"/>
          </a:xfrm>
          <a:prstGeom prst="rect">
            <a:avLst/>
          </a:prstGeom>
          <a:noFill/>
          <a:ln/>
        </p:spPr>
        <p:txBody>
          <a:bodyPr wrap="square" lIns="0" tIns="0" rIns="0" bIns="0" rtlCol="0" anchor="t"/>
          <a:lstStyle/>
          <a:p>
            <a:pPr marL="0" indent="0">
              <a:buNone/>
            </a:pPr>
            <a:r>
              <a:rPr lang="en-US" sz="950" i="1" dirty="0">
                <a:solidFill>
                  <a:srgbClr val="5B6B7B"/>
                </a:solidFill>
                <a:latin typeface="Calibri" pitchFamily="34" charset="0"/>
                <a:ea typeface="Calibri" pitchFamily="34" charset="-122"/>
                <a:cs typeface="Calibri" pitchFamily="34" charset="-120"/>
              </a:rPr>
              <a:t>Limit: One study: 1.47% hallucinated, 3.45% omitted. Doctor verifies.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100" b="1" dirty="0">
                <a:solidFill>
                  <a:srgbClr val="0B2545"/>
                </a:solidFill>
                <a:latin typeface="Calibri" pitchFamily="34" charset="0"/>
                <a:ea typeface="Calibri" pitchFamily="34" charset="-122"/>
                <a:cs typeface="Calibri" pitchFamily="34" charset="-120"/>
              </a:rPr>
              <a:t>Sunita’s journey (illustrative): the AI flags, the doctor decides, the system follows up</a:t>
            </a:r>
            <a:endParaRPr lang="en-US" sz="2100" dirty="0"/>
          </a:p>
        </p:txBody>
      </p:sp>
      <p:sp>
        <p:nvSpPr>
          <p:cNvPr id="3" name="Shape 1"/>
          <p:cNvSpPr/>
          <p:nvPr/>
        </p:nvSpPr>
        <p:spPr>
          <a:xfrm>
            <a:off x="457200" y="1097280"/>
            <a:ext cx="1965960" cy="2011680"/>
          </a:xfrm>
          <a:prstGeom prst="rect">
            <a:avLst/>
          </a:prstGeom>
          <a:solidFill>
            <a:srgbClr val="F2F5F8"/>
          </a:solidFill>
          <a:ln/>
        </p:spPr>
      </p:sp>
      <p:sp>
        <p:nvSpPr>
          <p:cNvPr id="4" name="Shape 2"/>
          <p:cNvSpPr/>
          <p:nvPr/>
        </p:nvSpPr>
        <p:spPr>
          <a:xfrm>
            <a:off x="566928" y="1188720"/>
            <a:ext cx="347472" cy="347472"/>
          </a:xfrm>
          <a:prstGeom prst="ellipse">
            <a:avLst/>
          </a:prstGeom>
          <a:solidFill>
            <a:srgbClr val="0B2545"/>
          </a:solidFill>
          <a:ln/>
        </p:spPr>
      </p:sp>
      <p:sp>
        <p:nvSpPr>
          <p:cNvPr id="5" name="Text 3"/>
          <p:cNvSpPr txBox="1"/>
          <p:nvPr/>
        </p:nvSpPr>
        <p:spPr>
          <a:xfrm>
            <a:off x="566928" y="11887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05840" y="1234440"/>
            <a:ext cx="1371600" cy="27432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Village visit</a:t>
            </a:r>
            <a:endParaRPr lang="en-US" sz="1300" dirty="0"/>
          </a:p>
        </p:txBody>
      </p:sp>
      <p:sp>
        <p:nvSpPr>
          <p:cNvPr id="7" name="Text 5"/>
          <p:cNvSpPr txBox="1"/>
          <p:nvPr/>
        </p:nvSpPr>
        <p:spPr>
          <a:xfrm>
            <a:off x="566928" y="1645920"/>
            <a:ext cx="1764792" cy="10972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Health worker records symptoms and takes a digital X-ray. Record is linked to her ABHA ID with consent.</a:t>
            </a:r>
            <a:endParaRPr lang="en-US" sz="1050" dirty="0"/>
          </a:p>
        </p:txBody>
      </p:sp>
      <p:sp>
        <p:nvSpPr>
          <p:cNvPr id="8" name="Shape 6"/>
          <p:cNvSpPr/>
          <p:nvPr/>
        </p:nvSpPr>
        <p:spPr>
          <a:xfrm>
            <a:off x="566928" y="2834640"/>
            <a:ext cx="960120" cy="182880"/>
          </a:xfrm>
          <a:prstGeom prst="roundRect">
            <a:avLst>
              <a:gd name="adj" fmla="val 25000"/>
            </a:avLst>
          </a:prstGeom>
          <a:solidFill>
            <a:srgbClr val="13A89E"/>
          </a:solidFill>
          <a:ln/>
        </p:spPr>
      </p:sp>
      <p:sp>
        <p:nvSpPr>
          <p:cNvPr id="9" name="Text 7"/>
          <p:cNvSpPr txBox="1"/>
          <p:nvPr/>
        </p:nvSpPr>
        <p:spPr>
          <a:xfrm>
            <a:off x="566928" y="283464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EXISTS TODAY</a:t>
            </a:r>
            <a:endParaRPr lang="en-US" sz="750" dirty="0"/>
          </a:p>
        </p:txBody>
      </p:sp>
      <p:sp>
        <p:nvSpPr>
          <p:cNvPr id="10" name="Shape 8"/>
          <p:cNvSpPr/>
          <p:nvPr/>
        </p:nvSpPr>
        <p:spPr>
          <a:xfrm>
            <a:off x="2560320" y="1097280"/>
            <a:ext cx="1965960" cy="2011680"/>
          </a:xfrm>
          <a:prstGeom prst="rect">
            <a:avLst/>
          </a:prstGeom>
          <a:solidFill>
            <a:srgbClr val="F2F5F8"/>
          </a:solidFill>
          <a:ln/>
        </p:spPr>
      </p:sp>
      <p:sp>
        <p:nvSpPr>
          <p:cNvPr id="11" name="Shape 9"/>
          <p:cNvSpPr/>
          <p:nvPr/>
        </p:nvSpPr>
        <p:spPr>
          <a:xfrm>
            <a:off x="2670048" y="1188720"/>
            <a:ext cx="347472" cy="347472"/>
          </a:xfrm>
          <a:prstGeom prst="ellipse">
            <a:avLst/>
          </a:prstGeom>
          <a:solidFill>
            <a:srgbClr val="0B2545"/>
          </a:solidFill>
          <a:ln/>
        </p:spPr>
      </p:sp>
      <p:sp>
        <p:nvSpPr>
          <p:cNvPr id="12" name="Text 10"/>
          <p:cNvSpPr txBox="1"/>
          <p:nvPr/>
        </p:nvSpPr>
        <p:spPr>
          <a:xfrm>
            <a:off x="2670048" y="11887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108960" y="1234440"/>
            <a:ext cx="1371600" cy="27432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AI flag</a:t>
            </a:r>
            <a:endParaRPr lang="en-US" sz="1300" dirty="0"/>
          </a:p>
        </p:txBody>
      </p:sp>
      <p:sp>
        <p:nvSpPr>
          <p:cNvPr id="14" name="Text 12"/>
          <p:cNvSpPr txBox="1"/>
          <p:nvPr/>
        </p:nvSpPr>
        <p:spPr>
          <a:xfrm>
            <a:off x="2670048" y="1645920"/>
            <a:ext cx="1764792" cy="10972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Image AI gives a TB-likelihood score with uncertainty. Rules: high score, send for confirmatory test.</a:t>
            </a:r>
            <a:endParaRPr lang="en-US" sz="1050" dirty="0"/>
          </a:p>
        </p:txBody>
      </p:sp>
      <p:sp>
        <p:nvSpPr>
          <p:cNvPr id="15" name="Shape 13"/>
          <p:cNvSpPr/>
          <p:nvPr/>
        </p:nvSpPr>
        <p:spPr>
          <a:xfrm>
            <a:off x="2670048" y="2834640"/>
            <a:ext cx="960120" cy="182880"/>
          </a:xfrm>
          <a:prstGeom prst="roundRect">
            <a:avLst>
              <a:gd name="adj" fmla="val 25000"/>
            </a:avLst>
          </a:prstGeom>
          <a:solidFill>
            <a:srgbClr val="E8A33D"/>
          </a:solidFill>
          <a:ln/>
        </p:spPr>
      </p:sp>
      <p:sp>
        <p:nvSpPr>
          <p:cNvPr id="16" name="Text 14"/>
          <p:cNvSpPr txBox="1"/>
          <p:nvPr/>
        </p:nvSpPr>
        <p:spPr>
          <a:xfrm>
            <a:off x="2670048" y="283464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17" name="Shape 15"/>
          <p:cNvSpPr/>
          <p:nvPr/>
        </p:nvSpPr>
        <p:spPr>
          <a:xfrm>
            <a:off x="4663440" y="1097280"/>
            <a:ext cx="1965960" cy="2011680"/>
          </a:xfrm>
          <a:prstGeom prst="rect">
            <a:avLst/>
          </a:prstGeom>
          <a:solidFill>
            <a:srgbClr val="F2F5F8"/>
          </a:solidFill>
          <a:ln/>
        </p:spPr>
      </p:sp>
      <p:sp>
        <p:nvSpPr>
          <p:cNvPr id="18" name="Shape 16"/>
          <p:cNvSpPr/>
          <p:nvPr/>
        </p:nvSpPr>
        <p:spPr>
          <a:xfrm>
            <a:off x="4773168" y="1188720"/>
            <a:ext cx="347472" cy="347472"/>
          </a:xfrm>
          <a:prstGeom prst="ellipse">
            <a:avLst/>
          </a:prstGeom>
          <a:solidFill>
            <a:srgbClr val="0B2545"/>
          </a:solidFill>
          <a:ln/>
        </p:spPr>
      </p:sp>
      <p:sp>
        <p:nvSpPr>
          <p:cNvPr id="19" name="Text 17"/>
          <p:cNvSpPr txBox="1"/>
          <p:nvPr/>
        </p:nvSpPr>
        <p:spPr>
          <a:xfrm>
            <a:off x="4773168" y="11887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212080" y="1234440"/>
            <a:ext cx="1371600" cy="27432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Doctor review</a:t>
            </a:r>
            <a:endParaRPr lang="en-US" sz="1300" dirty="0"/>
          </a:p>
        </p:txBody>
      </p:sp>
      <p:sp>
        <p:nvSpPr>
          <p:cNvPr id="21" name="Text 19"/>
          <p:cNvSpPr txBox="1"/>
          <p:nvPr/>
        </p:nvSpPr>
        <p:spPr>
          <a:xfrm>
            <a:off x="4773168" y="1645920"/>
            <a:ext cx="1764792" cy="10972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A district doctor sees X-ray, score and history, can override, and orders a molecular test.</a:t>
            </a:r>
            <a:endParaRPr lang="en-US" sz="1050" dirty="0"/>
          </a:p>
        </p:txBody>
      </p:sp>
      <p:sp>
        <p:nvSpPr>
          <p:cNvPr id="22" name="Shape 20"/>
          <p:cNvSpPr/>
          <p:nvPr/>
        </p:nvSpPr>
        <p:spPr>
          <a:xfrm>
            <a:off x="4773168" y="2834640"/>
            <a:ext cx="960120" cy="182880"/>
          </a:xfrm>
          <a:prstGeom prst="roundRect">
            <a:avLst>
              <a:gd name="adj" fmla="val 25000"/>
            </a:avLst>
          </a:prstGeom>
          <a:solidFill>
            <a:srgbClr val="E8A33D"/>
          </a:solidFill>
          <a:ln/>
        </p:spPr>
      </p:sp>
      <p:sp>
        <p:nvSpPr>
          <p:cNvPr id="23" name="Text 21"/>
          <p:cNvSpPr txBox="1"/>
          <p:nvPr/>
        </p:nvSpPr>
        <p:spPr>
          <a:xfrm>
            <a:off x="4773168" y="283464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24" name="Shape 22"/>
          <p:cNvSpPr/>
          <p:nvPr/>
        </p:nvSpPr>
        <p:spPr>
          <a:xfrm>
            <a:off x="6766560" y="1097280"/>
            <a:ext cx="1965960" cy="2011680"/>
          </a:xfrm>
          <a:prstGeom prst="rect">
            <a:avLst/>
          </a:prstGeom>
          <a:solidFill>
            <a:srgbClr val="F2F5F8"/>
          </a:solidFill>
          <a:ln/>
        </p:spPr>
      </p:sp>
      <p:sp>
        <p:nvSpPr>
          <p:cNvPr id="25" name="Shape 23"/>
          <p:cNvSpPr/>
          <p:nvPr/>
        </p:nvSpPr>
        <p:spPr>
          <a:xfrm>
            <a:off x="6876288" y="1188720"/>
            <a:ext cx="347472" cy="347472"/>
          </a:xfrm>
          <a:prstGeom prst="ellipse">
            <a:avLst/>
          </a:prstGeom>
          <a:solidFill>
            <a:srgbClr val="0B2545"/>
          </a:solidFill>
          <a:ln/>
        </p:spPr>
      </p:sp>
      <p:sp>
        <p:nvSpPr>
          <p:cNvPr id="26" name="Text 24"/>
          <p:cNvSpPr txBox="1"/>
          <p:nvPr/>
        </p:nvSpPr>
        <p:spPr>
          <a:xfrm>
            <a:off x="6876288" y="11887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7315200" y="1234440"/>
            <a:ext cx="1371600" cy="27432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Follow-up</a:t>
            </a:r>
            <a:endParaRPr lang="en-US" sz="1300" dirty="0"/>
          </a:p>
        </p:txBody>
      </p:sp>
      <p:sp>
        <p:nvSpPr>
          <p:cNvPr id="28" name="Text 26"/>
          <p:cNvSpPr txBox="1"/>
          <p:nvPr/>
        </p:nvSpPr>
        <p:spPr>
          <a:xfrm>
            <a:off x="6876288" y="1645920"/>
            <a:ext cx="1764792" cy="10972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Referral is booked, reminders go out, and results are shared with consent to her local clinic.</a:t>
            </a:r>
            <a:endParaRPr lang="en-US" sz="1050" dirty="0"/>
          </a:p>
        </p:txBody>
      </p:sp>
      <p:sp>
        <p:nvSpPr>
          <p:cNvPr id="29" name="Shape 27"/>
          <p:cNvSpPr/>
          <p:nvPr/>
        </p:nvSpPr>
        <p:spPr>
          <a:xfrm>
            <a:off x="6876288" y="2834640"/>
            <a:ext cx="960120" cy="182880"/>
          </a:xfrm>
          <a:prstGeom prst="roundRect">
            <a:avLst>
              <a:gd name="adj" fmla="val 25000"/>
            </a:avLst>
          </a:prstGeom>
          <a:solidFill>
            <a:srgbClr val="E8A33D"/>
          </a:solidFill>
          <a:ln/>
        </p:spPr>
      </p:sp>
      <p:sp>
        <p:nvSpPr>
          <p:cNvPr id="30" name="Text 28"/>
          <p:cNvSpPr txBox="1"/>
          <p:nvPr/>
        </p:nvSpPr>
        <p:spPr>
          <a:xfrm>
            <a:off x="6876288" y="2834640"/>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31" name="Shape 29"/>
          <p:cNvSpPr/>
          <p:nvPr/>
        </p:nvSpPr>
        <p:spPr>
          <a:xfrm>
            <a:off x="457200" y="3337560"/>
            <a:ext cx="8229600" cy="1371600"/>
          </a:xfrm>
          <a:prstGeom prst="rect">
            <a:avLst/>
          </a:prstGeom>
          <a:solidFill>
            <a:srgbClr val="0B2545"/>
          </a:solidFill>
          <a:ln/>
        </p:spPr>
      </p:sp>
      <p:sp>
        <p:nvSpPr>
          <p:cNvPr id="32" name="Text 30"/>
          <p:cNvSpPr txBox="1"/>
          <p:nvPr/>
        </p:nvSpPr>
        <p:spPr>
          <a:xfrm>
            <a:off x="640080" y="3429000"/>
            <a:ext cx="5486400" cy="274320"/>
          </a:xfrm>
          <a:prstGeom prst="rect">
            <a:avLst/>
          </a:prstGeom>
          <a:noFill/>
          <a:ln/>
        </p:spPr>
        <p:txBody>
          <a:bodyPr wrap="square" lIns="0" tIns="0" rIns="0" bIns="0" rtlCol="0" anchor="t"/>
          <a:lstStyle/>
          <a:p>
            <a:pPr marL="0" indent="0">
              <a:buNone/>
            </a:pPr>
            <a:r>
              <a:rPr lang="en-US" sz="1300" b="1" dirty="0">
                <a:solidFill>
                  <a:srgbClr val="13A89E"/>
                </a:solidFill>
                <a:latin typeface="Calibri" pitchFamily="34" charset="0"/>
                <a:ea typeface="Calibri" pitchFamily="34" charset="-122"/>
                <a:cs typeface="Calibri" pitchFamily="34" charset="-120"/>
              </a:rPr>
              <a:t>Meanwhile, district planners (proposal)</a:t>
            </a:r>
            <a:endParaRPr lang="en-US" sz="1300" dirty="0"/>
          </a:p>
        </p:txBody>
      </p:sp>
      <p:sp>
        <p:nvSpPr>
          <p:cNvPr id="33" name="Shape 31"/>
          <p:cNvSpPr/>
          <p:nvPr/>
        </p:nvSpPr>
        <p:spPr>
          <a:xfrm>
            <a:off x="7498080" y="3456432"/>
            <a:ext cx="960120" cy="182880"/>
          </a:xfrm>
          <a:prstGeom prst="roundRect">
            <a:avLst>
              <a:gd name="adj" fmla="val 25000"/>
            </a:avLst>
          </a:prstGeom>
          <a:solidFill>
            <a:srgbClr val="E8A33D"/>
          </a:solidFill>
          <a:ln/>
        </p:spPr>
      </p:sp>
      <p:sp>
        <p:nvSpPr>
          <p:cNvPr id="34" name="Text 32"/>
          <p:cNvSpPr txBox="1"/>
          <p:nvPr/>
        </p:nvSpPr>
        <p:spPr>
          <a:xfrm>
            <a:off x="7498080" y="3456432"/>
            <a:ext cx="96012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OUR PROPOSAL</a:t>
            </a:r>
            <a:endParaRPr lang="en-US" sz="750" dirty="0"/>
          </a:p>
        </p:txBody>
      </p:sp>
      <p:sp>
        <p:nvSpPr>
          <p:cNvPr id="35" name="Text 33"/>
          <p:cNvSpPr txBox="1"/>
          <p:nvPr/>
        </p:nvSpPr>
        <p:spPr>
          <a:xfrm>
            <a:off x="640080" y="3749040"/>
            <a:ext cx="7863840" cy="8686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Forecasts of X-ray, lab and test-kit demand and follow-up gaps help send vans, staff and kits where they are needed. We choose the forecasting method by testing on local data, not by hype.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100" b="1" dirty="0">
                <a:solidFill>
                  <a:srgbClr val="0B2545"/>
                </a:solidFill>
                <a:latin typeface="Calibri" pitchFamily="34" charset="0"/>
                <a:ea typeface="Calibri" pitchFamily="34" charset="-122"/>
                <a:cs typeface="Calibri" pitchFamily="34" charset="-120"/>
              </a:rPr>
              <a:t>How will we know it worked? Measure first, start small, grow on proof</a:t>
            </a:r>
            <a:endParaRPr lang="en-US" sz="2100" dirty="0"/>
          </a:p>
        </p:txBody>
      </p:sp>
      <p:sp>
        <p:nvSpPr>
          <p:cNvPr id="3" name="Text 1"/>
          <p:cNvSpPr txBox="1"/>
          <p:nvPr/>
        </p:nvSpPr>
        <p:spPr>
          <a:xfrm>
            <a:off x="457200" y="1005840"/>
            <a:ext cx="4572000" cy="228600"/>
          </a:xfrm>
          <a:prstGeom prst="rect">
            <a:avLst/>
          </a:prstGeom>
          <a:noFill/>
          <a:ln/>
        </p:spPr>
        <p:txBody>
          <a:bodyPr wrap="square" lIns="0" tIns="0" rIns="0" bIns="0" rtlCol="0" anchor="t"/>
          <a:lstStyle/>
          <a:p>
            <a:pPr marL="0" indent="0">
              <a:buNone/>
            </a:pPr>
            <a:r>
              <a:rPr lang="en-US" sz="1000" b="1" dirty="0">
                <a:solidFill>
                  <a:srgbClr val="13A89E"/>
                </a:solidFill>
                <a:latin typeface="Calibri" pitchFamily="34" charset="0"/>
                <a:ea typeface="Calibri" pitchFamily="34" charset="-122"/>
                <a:cs typeface="Calibri" pitchFamily="34" charset="-120"/>
              </a:rPr>
              <a:t>THE PLAN: FIVE PHASES</a:t>
            </a:r>
            <a:endParaRPr lang="en-US" sz="1000" dirty="0"/>
          </a:p>
        </p:txBody>
      </p:sp>
      <p:sp>
        <p:nvSpPr>
          <p:cNvPr id="4" name="Shape 2"/>
          <p:cNvSpPr/>
          <p:nvPr/>
        </p:nvSpPr>
        <p:spPr>
          <a:xfrm>
            <a:off x="457200" y="1280160"/>
            <a:ext cx="1554480" cy="1143000"/>
          </a:xfrm>
          <a:prstGeom prst="rect">
            <a:avLst/>
          </a:prstGeom>
          <a:solidFill>
            <a:srgbClr val="E3F4F2"/>
          </a:solidFill>
          <a:ln/>
        </p:spPr>
      </p:sp>
      <p:sp>
        <p:nvSpPr>
          <p:cNvPr id="5" name="Shape 3"/>
          <p:cNvSpPr/>
          <p:nvPr/>
        </p:nvSpPr>
        <p:spPr>
          <a:xfrm>
            <a:off x="457200" y="1280160"/>
            <a:ext cx="1554480" cy="54864"/>
          </a:xfrm>
          <a:prstGeom prst="rect">
            <a:avLst/>
          </a:prstGeom>
          <a:solidFill>
            <a:srgbClr val="13A89E"/>
          </a:solidFill>
          <a:ln/>
        </p:spPr>
      </p:sp>
      <p:sp>
        <p:nvSpPr>
          <p:cNvPr id="6" name="Text 4"/>
          <p:cNvSpPr txBox="1"/>
          <p:nvPr/>
        </p:nvSpPr>
        <p:spPr>
          <a:xfrm>
            <a:off x="566928" y="1417320"/>
            <a:ext cx="137160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1 Define</a:t>
            </a:r>
            <a:endParaRPr lang="en-US" sz="1250" dirty="0"/>
          </a:p>
        </p:txBody>
      </p:sp>
      <p:sp>
        <p:nvSpPr>
          <p:cNvPr id="7" name="Text 5"/>
          <p:cNvSpPr txBox="1"/>
          <p:nvPr/>
        </p:nvSpPr>
        <p:spPr>
          <a:xfrm>
            <a:off x="566928" y="1755648"/>
            <a:ext cx="1371600" cy="6400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Pick use case and partners; measure today’s numbers.</a:t>
            </a:r>
            <a:endParaRPr lang="en-US" sz="1050" dirty="0"/>
          </a:p>
        </p:txBody>
      </p:sp>
      <p:sp>
        <p:nvSpPr>
          <p:cNvPr id="8" name="Shape 6"/>
          <p:cNvSpPr/>
          <p:nvPr/>
        </p:nvSpPr>
        <p:spPr>
          <a:xfrm>
            <a:off x="2125980" y="1280160"/>
            <a:ext cx="1554480" cy="1143000"/>
          </a:xfrm>
          <a:prstGeom prst="rect">
            <a:avLst/>
          </a:prstGeom>
          <a:solidFill>
            <a:srgbClr val="F2F5F8"/>
          </a:solidFill>
          <a:ln/>
        </p:spPr>
      </p:sp>
      <p:sp>
        <p:nvSpPr>
          <p:cNvPr id="9" name="Shape 7"/>
          <p:cNvSpPr/>
          <p:nvPr/>
        </p:nvSpPr>
        <p:spPr>
          <a:xfrm>
            <a:off x="2125980" y="1280160"/>
            <a:ext cx="1554480" cy="54864"/>
          </a:xfrm>
          <a:prstGeom prst="rect">
            <a:avLst/>
          </a:prstGeom>
          <a:solidFill>
            <a:srgbClr val="13A89E"/>
          </a:solidFill>
          <a:ln/>
        </p:spPr>
      </p:sp>
      <p:sp>
        <p:nvSpPr>
          <p:cNvPr id="10" name="Text 8"/>
          <p:cNvSpPr txBox="1"/>
          <p:nvPr/>
        </p:nvSpPr>
        <p:spPr>
          <a:xfrm>
            <a:off x="2235708" y="1417320"/>
            <a:ext cx="137160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2 Build</a:t>
            </a:r>
            <a:endParaRPr lang="en-US" sz="1250" dirty="0"/>
          </a:p>
        </p:txBody>
      </p:sp>
      <p:sp>
        <p:nvSpPr>
          <p:cNvPr id="11" name="Text 9"/>
          <p:cNvSpPr txBox="1"/>
          <p:nvPr/>
        </p:nvSpPr>
        <p:spPr>
          <a:xfrm>
            <a:off x="2235708" y="1755648"/>
            <a:ext cx="1371600" cy="6400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Choose the model; test it on past data.</a:t>
            </a:r>
            <a:endParaRPr lang="en-US" sz="1050" dirty="0"/>
          </a:p>
        </p:txBody>
      </p:sp>
      <p:sp>
        <p:nvSpPr>
          <p:cNvPr id="12" name="Shape 10"/>
          <p:cNvSpPr/>
          <p:nvPr/>
        </p:nvSpPr>
        <p:spPr>
          <a:xfrm>
            <a:off x="3794760" y="1280160"/>
            <a:ext cx="1554480" cy="1143000"/>
          </a:xfrm>
          <a:prstGeom prst="rect">
            <a:avLst/>
          </a:prstGeom>
          <a:solidFill>
            <a:srgbClr val="E3F4F2"/>
          </a:solidFill>
          <a:ln/>
        </p:spPr>
      </p:sp>
      <p:sp>
        <p:nvSpPr>
          <p:cNvPr id="13" name="Shape 11"/>
          <p:cNvSpPr/>
          <p:nvPr/>
        </p:nvSpPr>
        <p:spPr>
          <a:xfrm>
            <a:off x="3794760" y="1280160"/>
            <a:ext cx="1554480" cy="54864"/>
          </a:xfrm>
          <a:prstGeom prst="rect">
            <a:avLst/>
          </a:prstGeom>
          <a:solidFill>
            <a:srgbClr val="13A89E"/>
          </a:solidFill>
          <a:ln/>
        </p:spPr>
      </p:sp>
      <p:sp>
        <p:nvSpPr>
          <p:cNvPr id="14" name="Text 12"/>
          <p:cNvSpPr txBox="1"/>
          <p:nvPr/>
        </p:nvSpPr>
        <p:spPr>
          <a:xfrm>
            <a:off x="3904488" y="1417320"/>
            <a:ext cx="137160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3 Pilot</a:t>
            </a:r>
            <a:endParaRPr lang="en-US" sz="1250" dirty="0"/>
          </a:p>
        </p:txBody>
      </p:sp>
      <p:sp>
        <p:nvSpPr>
          <p:cNvPr id="15" name="Text 13"/>
          <p:cNvSpPr txBox="1"/>
          <p:nvPr/>
        </p:nvSpPr>
        <p:spPr>
          <a:xfrm>
            <a:off x="3904488" y="1755648"/>
            <a:ext cx="1371600" cy="6400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A few facilities, doctors in charge.</a:t>
            </a:r>
            <a:endParaRPr lang="en-US" sz="1050" dirty="0"/>
          </a:p>
        </p:txBody>
      </p:sp>
      <p:sp>
        <p:nvSpPr>
          <p:cNvPr id="16" name="Shape 14"/>
          <p:cNvSpPr/>
          <p:nvPr/>
        </p:nvSpPr>
        <p:spPr>
          <a:xfrm>
            <a:off x="5463540" y="1280160"/>
            <a:ext cx="1554480" cy="1143000"/>
          </a:xfrm>
          <a:prstGeom prst="rect">
            <a:avLst/>
          </a:prstGeom>
          <a:solidFill>
            <a:srgbClr val="F2F5F8"/>
          </a:solidFill>
          <a:ln/>
        </p:spPr>
      </p:sp>
      <p:sp>
        <p:nvSpPr>
          <p:cNvPr id="17" name="Shape 15"/>
          <p:cNvSpPr/>
          <p:nvPr/>
        </p:nvSpPr>
        <p:spPr>
          <a:xfrm>
            <a:off x="5463540" y="1280160"/>
            <a:ext cx="1554480" cy="54864"/>
          </a:xfrm>
          <a:prstGeom prst="rect">
            <a:avLst/>
          </a:prstGeom>
          <a:solidFill>
            <a:srgbClr val="13A89E"/>
          </a:solidFill>
          <a:ln/>
        </p:spPr>
      </p:sp>
      <p:sp>
        <p:nvSpPr>
          <p:cNvPr id="18" name="Text 16"/>
          <p:cNvSpPr txBox="1"/>
          <p:nvPr/>
        </p:nvSpPr>
        <p:spPr>
          <a:xfrm>
            <a:off x="5573268" y="1417320"/>
            <a:ext cx="137160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4 Evaluate</a:t>
            </a:r>
            <a:endParaRPr lang="en-US" sz="1250" dirty="0"/>
          </a:p>
        </p:txBody>
      </p:sp>
      <p:sp>
        <p:nvSpPr>
          <p:cNvPr id="19" name="Text 17"/>
          <p:cNvSpPr txBox="1"/>
          <p:nvPr/>
        </p:nvSpPr>
        <p:spPr>
          <a:xfrm>
            <a:off x="5573268" y="1755648"/>
            <a:ext cx="1371600" cy="6400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Judge safety, fairness, workflow and cost.</a:t>
            </a:r>
            <a:endParaRPr lang="en-US" sz="1050" dirty="0"/>
          </a:p>
        </p:txBody>
      </p:sp>
      <p:sp>
        <p:nvSpPr>
          <p:cNvPr id="20" name="Shape 18"/>
          <p:cNvSpPr/>
          <p:nvPr/>
        </p:nvSpPr>
        <p:spPr>
          <a:xfrm>
            <a:off x="7132320" y="1280160"/>
            <a:ext cx="1554480" cy="1143000"/>
          </a:xfrm>
          <a:prstGeom prst="rect">
            <a:avLst/>
          </a:prstGeom>
          <a:solidFill>
            <a:srgbClr val="E3F4F2"/>
          </a:solidFill>
          <a:ln/>
        </p:spPr>
      </p:sp>
      <p:sp>
        <p:nvSpPr>
          <p:cNvPr id="21" name="Shape 19"/>
          <p:cNvSpPr/>
          <p:nvPr/>
        </p:nvSpPr>
        <p:spPr>
          <a:xfrm>
            <a:off x="7132320" y="1280160"/>
            <a:ext cx="1554480" cy="54864"/>
          </a:xfrm>
          <a:prstGeom prst="rect">
            <a:avLst/>
          </a:prstGeom>
          <a:solidFill>
            <a:srgbClr val="13A89E"/>
          </a:solidFill>
          <a:ln/>
        </p:spPr>
      </p:sp>
      <p:sp>
        <p:nvSpPr>
          <p:cNvPr id="22" name="Text 20"/>
          <p:cNvSpPr txBox="1"/>
          <p:nvPr/>
        </p:nvSpPr>
        <p:spPr>
          <a:xfrm>
            <a:off x="7242048" y="1417320"/>
            <a:ext cx="1371600" cy="274320"/>
          </a:xfrm>
          <a:prstGeom prst="rect">
            <a:avLst/>
          </a:prstGeom>
          <a:noFill/>
          <a:ln/>
        </p:spPr>
        <p:txBody>
          <a:bodyPr wrap="square" lIns="0" tIns="0" rIns="0" bIns="0" rtlCol="0" anchor="t"/>
          <a:lstStyle/>
          <a:p>
            <a:pPr marL="0" indent="0">
              <a:buNone/>
            </a:pPr>
            <a:r>
              <a:rPr lang="en-US" sz="1250" b="1" dirty="0">
                <a:solidFill>
                  <a:srgbClr val="0B2545"/>
                </a:solidFill>
                <a:latin typeface="Calibri" pitchFamily="34" charset="0"/>
                <a:ea typeface="Calibri" pitchFamily="34" charset="-122"/>
                <a:cs typeface="Calibri" pitchFamily="34" charset="-120"/>
              </a:rPr>
              <a:t>5 Expand</a:t>
            </a:r>
            <a:endParaRPr lang="en-US" sz="1250" dirty="0"/>
          </a:p>
        </p:txBody>
      </p:sp>
      <p:sp>
        <p:nvSpPr>
          <p:cNvPr id="23" name="Text 21"/>
          <p:cNvSpPr txBox="1"/>
          <p:nvPr/>
        </p:nvSpPr>
        <p:spPr>
          <a:xfrm>
            <a:off x="7242048" y="1755648"/>
            <a:ext cx="1371600" cy="64008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Only if the evidence supports it.</a:t>
            </a:r>
            <a:endParaRPr lang="en-US" sz="1050" dirty="0"/>
          </a:p>
        </p:txBody>
      </p:sp>
      <p:sp>
        <p:nvSpPr>
          <p:cNvPr id="24" name="Text 22"/>
          <p:cNvSpPr txBox="1"/>
          <p:nvPr/>
        </p:nvSpPr>
        <p:spPr>
          <a:xfrm>
            <a:off x="457200" y="2606040"/>
            <a:ext cx="5486400" cy="228600"/>
          </a:xfrm>
          <a:prstGeom prst="rect">
            <a:avLst/>
          </a:prstGeom>
          <a:noFill/>
          <a:ln/>
        </p:spPr>
        <p:txBody>
          <a:bodyPr wrap="square" lIns="0" tIns="0" rIns="0" bIns="0" rtlCol="0" anchor="t"/>
          <a:lstStyle/>
          <a:p>
            <a:pPr marL="0" indent="0">
              <a:buNone/>
            </a:pPr>
            <a:r>
              <a:rPr lang="en-US" sz="1000" b="1" dirty="0">
                <a:solidFill>
                  <a:srgbClr val="13A89E"/>
                </a:solidFill>
                <a:latin typeface="Calibri" pitchFamily="34" charset="0"/>
                <a:ea typeface="Calibri" pitchFamily="34" charset="-122"/>
                <a:cs typeface="Calibri" pitchFamily="34" charset="-120"/>
              </a:rPr>
              <a:t>WHAT WE CHECK: FOUR SIMPLE QUESTIONS</a:t>
            </a:r>
            <a:endParaRPr lang="en-US" sz="1000" dirty="0"/>
          </a:p>
        </p:txBody>
      </p:sp>
      <p:sp>
        <p:nvSpPr>
          <p:cNvPr id="25" name="Shape 23"/>
          <p:cNvSpPr/>
          <p:nvPr/>
        </p:nvSpPr>
        <p:spPr>
          <a:xfrm>
            <a:off x="457200" y="2880360"/>
            <a:ext cx="1965960" cy="1325880"/>
          </a:xfrm>
          <a:prstGeom prst="rect">
            <a:avLst/>
          </a:prstGeom>
          <a:solidFill>
            <a:srgbClr val="F2F5F8"/>
          </a:solidFill>
          <a:ln/>
        </p:spPr>
      </p:sp>
      <p:sp>
        <p:nvSpPr>
          <p:cNvPr id="26" name="Shape 24"/>
          <p:cNvSpPr/>
          <p:nvPr/>
        </p:nvSpPr>
        <p:spPr>
          <a:xfrm>
            <a:off x="457200" y="2880360"/>
            <a:ext cx="64008" cy="1325880"/>
          </a:xfrm>
          <a:prstGeom prst="rect">
            <a:avLst/>
          </a:prstGeom>
          <a:solidFill>
            <a:srgbClr val="0B2545"/>
          </a:solidFill>
          <a:ln/>
        </p:spPr>
      </p:sp>
      <p:sp>
        <p:nvSpPr>
          <p:cNvPr id="27" name="Text 25"/>
          <p:cNvSpPr txBox="1"/>
          <p:nvPr/>
        </p:nvSpPr>
        <p:spPr>
          <a:xfrm>
            <a:off x="640080" y="2944368"/>
            <a:ext cx="173736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Do we catch real TB?</a:t>
            </a:r>
            <a:endParaRPr lang="en-US" sz="1150" dirty="0"/>
          </a:p>
        </p:txBody>
      </p:sp>
      <p:sp>
        <p:nvSpPr>
          <p:cNvPr id="28" name="Text 26"/>
          <p:cNvSpPr txBox="1"/>
          <p:nvPr/>
        </p:nvSpPr>
        <p:spPr>
          <a:xfrm>
            <a:off x="640080" y="3264408"/>
            <a:ext cx="1719072" cy="914400"/>
          </a:xfrm>
          <a:prstGeom prst="rect">
            <a:avLst/>
          </a:prstGeom>
          <a:noFill/>
          <a:ln/>
        </p:spPr>
        <p:txBody>
          <a:bodyPr wrap="square" lIns="0" tIns="0" rIns="0" bIns="0" rtlCol="0" anchor="t"/>
          <a:lstStyle/>
          <a:p>
            <a:pPr marL="0" indent="0">
              <a:buNone/>
            </a:pPr>
            <a:r>
              <a:rPr lang="en-US" sz="950" dirty="0">
                <a:solidFill>
                  <a:srgbClr val="1B2A3A"/>
                </a:solidFill>
                <a:latin typeface="Calibri" pitchFamily="34" charset="0"/>
                <a:ea typeface="Calibri" pitchFamily="34" charset="-122"/>
                <a:cs typeface="Calibri" pitchFamily="34" charset="-120"/>
              </a:rPr>
              <a:t>Of people who truly have TB, how many are flagged, and how many false alarms? WHO triage benchmark: ≥90% sensitivity, ≥70% specificity.</a:t>
            </a:r>
            <a:endParaRPr lang="en-US" sz="950" dirty="0"/>
          </a:p>
        </p:txBody>
      </p:sp>
      <p:sp>
        <p:nvSpPr>
          <p:cNvPr id="29" name="Shape 27"/>
          <p:cNvSpPr/>
          <p:nvPr/>
        </p:nvSpPr>
        <p:spPr>
          <a:xfrm>
            <a:off x="2542032" y="2880360"/>
            <a:ext cx="1965960" cy="1325880"/>
          </a:xfrm>
          <a:prstGeom prst="rect">
            <a:avLst/>
          </a:prstGeom>
          <a:solidFill>
            <a:srgbClr val="F2F5F8"/>
          </a:solidFill>
          <a:ln/>
        </p:spPr>
      </p:sp>
      <p:sp>
        <p:nvSpPr>
          <p:cNvPr id="30" name="Shape 28"/>
          <p:cNvSpPr/>
          <p:nvPr/>
        </p:nvSpPr>
        <p:spPr>
          <a:xfrm>
            <a:off x="2542032" y="2880360"/>
            <a:ext cx="64008" cy="1325880"/>
          </a:xfrm>
          <a:prstGeom prst="rect">
            <a:avLst/>
          </a:prstGeom>
          <a:solidFill>
            <a:srgbClr val="0B2545"/>
          </a:solidFill>
          <a:ln/>
        </p:spPr>
      </p:sp>
      <p:sp>
        <p:nvSpPr>
          <p:cNvPr id="31" name="Text 29"/>
          <p:cNvSpPr txBox="1"/>
          <p:nvPr/>
        </p:nvSpPr>
        <p:spPr>
          <a:xfrm>
            <a:off x="2724912" y="2944368"/>
            <a:ext cx="173736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Are people tested sooner?</a:t>
            </a:r>
            <a:endParaRPr lang="en-US" sz="1150" dirty="0"/>
          </a:p>
        </p:txBody>
      </p:sp>
      <p:sp>
        <p:nvSpPr>
          <p:cNvPr id="32" name="Text 30"/>
          <p:cNvSpPr txBox="1"/>
          <p:nvPr/>
        </p:nvSpPr>
        <p:spPr>
          <a:xfrm>
            <a:off x="2724912" y="3264408"/>
            <a:ext cx="1719072" cy="914400"/>
          </a:xfrm>
          <a:prstGeom prst="rect">
            <a:avLst/>
          </a:prstGeom>
          <a:noFill/>
          <a:ln/>
        </p:spPr>
        <p:txBody>
          <a:bodyPr wrap="square" lIns="0" tIns="0" rIns="0" bIns="0" rtlCol="0" anchor="t"/>
          <a:lstStyle/>
          <a:p>
            <a:pPr marL="0" indent="0">
              <a:buNone/>
            </a:pPr>
            <a:r>
              <a:rPr lang="en-US" sz="950" dirty="0">
                <a:solidFill>
                  <a:srgbClr val="1B2A3A"/>
                </a:solidFill>
                <a:latin typeface="Calibri" pitchFamily="34" charset="0"/>
                <a:ea typeface="Calibri" pitchFamily="34" charset="-122"/>
                <a:cs typeface="Calibri" pitchFamily="34" charset="-120"/>
              </a:rPr>
              <a:t>Days from first visit to confirmatory test.</a:t>
            </a:r>
            <a:endParaRPr lang="en-US" sz="950" dirty="0"/>
          </a:p>
        </p:txBody>
      </p:sp>
      <p:sp>
        <p:nvSpPr>
          <p:cNvPr id="33" name="Shape 31"/>
          <p:cNvSpPr/>
          <p:nvPr/>
        </p:nvSpPr>
        <p:spPr>
          <a:xfrm>
            <a:off x="4626864" y="2880360"/>
            <a:ext cx="1965960" cy="1325880"/>
          </a:xfrm>
          <a:prstGeom prst="rect">
            <a:avLst/>
          </a:prstGeom>
          <a:solidFill>
            <a:srgbClr val="F2F5F8"/>
          </a:solidFill>
          <a:ln/>
        </p:spPr>
      </p:sp>
      <p:sp>
        <p:nvSpPr>
          <p:cNvPr id="34" name="Shape 32"/>
          <p:cNvSpPr/>
          <p:nvPr/>
        </p:nvSpPr>
        <p:spPr>
          <a:xfrm>
            <a:off x="4626864" y="2880360"/>
            <a:ext cx="64008" cy="1325880"/>
          </a:xfrm>
          <a:prstGeom prst="rect">
            <a:avLst/>
          </a:prstGeom>
          <a:solidFill>
            <a:srgbClr val="0B2545"/>
          </a:solidFill>
          <a:ln/>
        </p:spPr>
      </p:sp>
      <p:sp>
        <p:nvSpPr>
          <p:cNvPr id="35" name="Text 33"/>
          <p:cNvSpPr txBox="1"/>
          <p:nvPr/>
        </p:nvSpPr>
        <p:spPr>
          <a:xfrm>
            <a:off x="4809744" y="2944368"/>
            <a:ext cx="173736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Do people finish follow-up?</a:t>
            </a:r>
            <a:endParaRPr lang="en-US" sz="1150" dirty="0"/>
          </a:p>
        </p:txBody>
      </p:sp>
      <p:sp>
        <p:nvSpPr>
          <p:cNvPr id="36" name="Text 34"/>
          <p:cNvSpPr txBox="1"/>
          <p:nvPr/>
        </p:nvSpPr>
        <p:spPr>
          <a:xfrm>
            <a:off x="4809744" y="3264408"/>
            <a:ext cx="1719072" cy="914400"/>
          </a:xfrm>
          <a:prstGeom prst="rect">
            <a:avLst/>
          </a:prstGeom>
          <a:noFill/>
          <a:ln/>
        </p:spPr>
        <p:txBody>
          <a:bodyPr wrap="square" lIns="0" tIns="0" rIns="0" bIns="0" rtlCol="0" anchor="t"/>
          <a:lstStyle/>
          <a:p>
            <a:pPr marL="0" indent="0">
              <a:buNone/>
            </a:pPr>
            <a:r>
              <a:rPr lang="en-US" sz="950" dirty="0">
                <a:solidFill>
                  <a:srgbClr val="1B2A3A"/>
                </a:solidFill>
                <a:latin typeface="Calibri" pitchFamily="34" charset="0"/>
                <a:ea typeface="Calibri" pitchFamily="34" charset="-122"/>
                <a:cs typeface="Calibri" pitchFamily="34" charset="-120"/>
              </a:rPr>
              <a:t>Share who complete referral and follow-up visits.</a:t>
            </a:r>
            <a:endParaRPr lang="en-US" sz="950" dirty="0"/>
          </a:p>
        </p:txBody>
      </p:sp>
      <p:sp>
        <p:nvSpPr>
          <p:cNvPr id="37" name="Shape 35"/>
          <p:cNvSpPr/>
          <p:nvPr/>
        </p:nvSpPr>
        <p:spPr>
          <a:xfrm>
            <a:off x="6711696" y="2880360"/>
            <a:ext cx="1965960" cy="1325880"/>
          </a:xfrm>
          <a:prstGeom prst="rect">
            <a:avLst/>
          </a:prstGeom>
          <a:solidFill>
            <a:srgbClr val="F2F5F8"/>
          </a:solidFill>
          <a:ln/>
        </p:spPr>
      </p:sp>
      <p:sp>
        <p:nvSpPr>
          <p:cNvPr id="38" name="Shape 36"/>
          <p:cNvSpPr/>
          <p:nvPr/>
        </p:nvSpPr>
        <p:spPr>
          <a:xfrm>
            <a:off x="6711696" y="2880360"/>
            <a:ext cx="64008" cy="1325880"/>
          </a:xfrm>
          <a:prstGeom prst="rect">
            <a:avLst/>
          </a:prstGeom>
          <a:solidFill>
            <a:srgbClr val="0B2545"/>
          </a:solidFill>
          <a:ln/>
        </p:spPr>
      </p:sp>
      <p:sp>
        <p:nvSpPr>
          <p:cNvPr id="39" name="Text 37"/>
          <p:cNvSpPr txBox="1"/>
          <p:nvPr/>
        </p:nvSpPr>
        <p:spPr>
          <a:xfrm>
            <a:off x="6894576" y="2944368"/>
            <a:ext cx="173736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Are resources used better?</a:t>
            </a:r>
            <a:endParaRPr lang="en-US" sz="1150" dirty="0"/>
          </a:p>
        </p:txBody>
      </p:sp>
      <p:sp>
        <p:nvSpPr>
          <p:cNvPr id="40" name="Text 38"/>
          <p:cNvSpPr txBox="1"/>
          <p:nvPr/>
        </p:nvSpPr>
        <p:spPr>
          <a:xfrm>
            <a:off x="6894576" y="3264408"/>
            <a:ext cx="1719072" cy="914400"/>
          </a:xfrm>
          <a:prstGeom prst="rect">
            <a:avLst/>
          </a:prstGeom>
          <a:noFill/>
          <a:ln/>
        </p:spPr>
        <p:txBody>
          <a:bodyPr wrap="square" lIns="0" tIns="0" rIns="0" bIns="0" rtlCol="0" anchor="t"/>
          <a:lstStyle/>
          <a:p>
            <a:pPr marL="0" indent="0">
              <a:buNone/>
            </a:pPr>
            <a:r>
              <a:rPr lang="en-US" sz="950" dirty="0">
                <a:solidFill>
                  <a:srgbClr val="1B2A3A"/>
                </a:solidFill>
                <a:latin typeface="Calibri" pitchFamily="34" charset="0"/>
                <a:ea typeface="Calibri" pitchFamily="34" charset="-122"/>
                <a:cs typeface="Calibri" pitchFamily="34" charset="-120"/>
              </a:rPr>
              <a:t>X-ray and lab waiting time; forecast error vs today’s method.</a:t>
            </a:r>
            <a:endParaRPr lang="en-US" sz="950" dirty="0"/>
          </a:p>
        </p:txBody>
      </p:sp>
      <p:sp>
        <p:nvSpPr>
          <p:cNvPr id="41" name="Shape 39"/>
          <p:cNvSpPr/>
          <p:nvPr/>
        </p:nvSpPr>
        <p:spPr>
          <a:xfrm>
            <a:off x="457200" y="4315968"/>
            <a:ext cx="8229600" cy="457200"/>
          </a:xfrm>
          <a:prstGeom prst="rect">
            <a:avLst/>
          </a:prstGeom>
          <a:solidFill>
            <a:srgbClr val="0B2545"/>
          </a:solidFill>
          <a:ln/>
        </p:spPr>
      </p:sp>
      <p:sp>
        <p:nvSpPr>
          <p:cNvPr id="42" name="Text 40"/>
          <p:cNvSpPr txBox="1"/>
          <p:nvPr/>
        </p:nvSpPr>
        <p:spPr>
          <a:xfrm>
            <a:off x="640080" y="4315968"/>
            <a:ext cx="786384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 reliable public baseline exists for tests 2–4, so Phase 1 measures them. Every result is compared with the same site’s own “before”.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100" b="1" dirty="0">
                <a:solidFill>
                  <a:srgbClr val="0B2545"/>
                </a:solidFill>
                <a:latin typeface="Calibri" pitchFamily="34" charset="0"/>
                <a:ea typeface="Calibri" pitchFamily="34" charset="-122"/>
                <a:cs typeface="Calibri" pitchFamily="34" charset="-120"/>
              </a:rPr>
              <a:t>We plan for failure first: every risk has a safeguard and a human in charge</a:t>
            </a:r>
            <a:endParaRPr lang="en-US" sz="2100" dirty="0"/>
          </a:p>
        </p:txBody>
      </p:sp>
      <p:sp>
        <p:nvSpPr>
          <p:cNvPr id="3" name="Shape 1"/>
          <p:cNvSpPr/>
          <p:nvPr/>
        </p:nvSpPr>
        <p:spPr>
          <a:xfrm>
            <a:off x="457200" y="1051560"/>
            <a:ext cx="2651760" cy="1097280"/>
          </a:xfrm>
          <a:prstGeom prst="rect">
            <a:avLst/>
          </a:prstGeom>
          <a:solidFill>
            <a:srgbClr val="F2F5F8"/>
          </a:solidFill>
          <a:ln/>
        </p:spPr>
      </p:sp>
      <p:sp>
        <p:nvSpPr>
          <p:cNvPr id="4" name="Shape 2"/>
          <p:cNvSpPr/>
          <p:nvPr/>
        </p:nvSpPr>
        <p:spPr>
          <a:xfrm>
            <a:off x="457200" y="1051560"/>
            <a:ext cx="64008" cy="1097280"/>
          </a:xfrm>
          <a:prstGeom prst="rect">
            <a:avLst/>
          </a:prstGeom>
          <a:solidFill>
            <a:srgbClr val="0B2545"/>
          </a:solidFill>
          <a:ln/>
        </p:spPr>
      </p:sp>
      <p:sp>
        <p:nvSpPr>
          <p:cNvPr id="5" name="Text 3"/>
          <p:cNvSpPr txBox="1"/>
          <p:nvPr/>
        </p:nvSpPr>
        <p:spPr>
          <a:xfrm>
            <a:off x="640080" y="1124712"/>
            <a:ext cx="237744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Biased or thin data</a:t>
            </a:r>
            <a:endParaRPr lang="en-US" sz="1200" dirty="0"/>
          </a:p>
        </p:txBody>
      </p:sp>
      <p:sp>
        <p:nvSpPr>
          <p:cNvPr id="6" name="Text 4"/>
          <p:cNvSpPr txBox="1"/>
          <p:nvPr/>
        </p:nvSpPr>
        <p:spPr>
          <a:xfrm>
            <a:off x="640080" y="1417320"/>
            <a:ext cx="2377440" cy="68580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Validate by region, sex and age; include rural and underserved patients.</a:t>
            </a:r>
            <a:endParaRPr lang="en-US" sz="1050" dirty="0"/>
          </a:p>
        </p:txBody>
      </p:sp>
      <p:sp>
        <p:nvSpPr>
          <p:cNvPr id="7" name="Shape 5"/>
          <p:cNvSpPr/>
          <p:nvPr/>
        </p:nvSpPr>
        <p:spPr>
          <a:xfrm>
            <a:off x="3246120" y="1051560"/>
            <a:ext cx="2651760" cy="1097280"/>
          </a:xfrm>
          <a:prstGeom prst="rect">
            <a:avLst/>
          </a:prstGeom>
          <a:solidFill>
            <a:srgbClr val="F2F5F8"/>
          </a:solidFill>
          <a:ln/>
        </p:spPr>
      </p:sp>
      <p:sp>
        <p:nvSpPr>
          <p:cNvPr id="8" name="Shape 6"/>
          <p:cNvSpPr/>
          <p:nvPr/>
        </p:nvSpPr>
        <p:spPr>
          <a:xfrm>
            <a:off x="3246120" y="1051560"/>
            <a:ext cx="64008" cy="1097280"/>
          </a:xfrm>
          <a:prstGeom prst="rect">
            <a:avLst/>
          </a:prstGeom>
          <a:solidFill>
            <a:srgbClr val="0B2545"/>
          </a:solidFill>
          <a:ln/>
        </p:spPr>
      </p:sp>
      <p:sp>
        <p:nvSpPr>
          <p:cNvPr id="9" name="Text 7"/>
          <p:cNvSpPr txBox="1"/>
          <p:nvPr/>
        </p:nvSpPr>
        <p:spPr>
          <a:xfrm>
            <a:off x="3429000" y="1124712"/>
            <a:ext cx="237744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False alarms, missed cases</a:t>
            </a:r>
            <a:endParaRPr lang="en-US" sz="1200" dirty="0"/>
          </a:p>
        </p:txBody>
      </p:sp>
      <p:sp>
        <p:nvSpPr>
          <p:cNvPr id="10" name="Text 8"/>
          <p:cNvSpPr txBox="1"/>
          <p:nvPr/>
        </p:nvSpPr>
        <p:spPr>
          <a:xfrm>
            <a:off x="3429000" y="1417320"/>
            <a:ext cx="2377440" cy="68580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Track false alarms and misses; a confirmatory test and a doctor decide.</a:t>
            </a:r>
            <a:endParaRPr lang="en-US" sz="1050" dirty="0"/>
          </a:p>
        </p:txBody>
      </p:sp>
      <p:sp>
        <p:nvSpPr>
          <p:cNvPr id="11" name="Shape 9"/>
          <p:cNvSpPr/>
          <p:nvPr/>
        </p:nvSpPr>
        <p:spPr>
          <a:xfrm>
            <a:off x="6035040" y="1051560"/>
            <a:ext cx="2651760" cy="1097280"/>
          </a:xfrm>
          <a:prstGeom prst="rect">
            <a:avLst/>
          </a:prstGeom>
          <a:solidFill>
            <a:srgbClr val="F2F5F8"/>
          </a:solidFill>
          <a:ln/>
        </p:spPr>
      </p:sp>
      <p:sp>
        <p:nvSpPr>
          <p:cNvPr id="12" name="Shape 10"/>
          <p:cNvSpPr/>
          <p:nvPr/>
        </p:nvSpPr>
        <p:spPr>
          <a:xfrm>
            <a:off x="6035040" y="1051560"/>
            <a:ext cx="64008" cy="1097280"/>
          </a:xfrm>
          <a:prstGeom prst="rect">
            <a:avLst/>
          </a:prstGeom>
          <a:solidFill>
            <a:srgbClr val="0B2545"/>
          </a:solidFill>
          <a:ln/>
        </p:spPr>
      </p:sp>
      <p:sp>
        <p:nvSpPr>
          <p:cNvPr id="13" name="Text 11"/>
          <p:cNvSpPr txBox="1"/>
          <p:nvPr/>
        </p:nvSpPr>
        <p:spPr>
          <a:xfrm>
            <a:off x="6217920" y="1124712"/>
            <a:ext cx="237744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Over-reliance on AI</a:t>
            </a:r>
            <a:endParaRPr lang="en-US" sz="1200" dirty="0"/>
          </a:p>
        </p:txBody>
      </p:sp>
      <p:sp>
        <p:nvSpPr>
          <p:cNvPr id="14" name="Text 12"/>
          <p:cNvSpPr txBox="1"/>
          <p:nvPr/>
        </p:nvSpPr>
        <p:spPr>
          <a:xfrm>
            <a:off x="6217920" y="1417320"/>
            <a:ext cx="2377440" cy="68580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Show uncertainty and reasons; doctor can override; overrides are logged.</a:t>
            </a:r>
            <a:endParaRPr lang="en-US" sz="1050" dirty="0"/>
          </a:p>
        </p:txBody>
      </p:sp>
      <p:sp>
        <p:nvSpPr>
          <p:cNvPr id="15" name="Shape 13"/>
          <p:cNvSpPr/>
          <p:nvPr/>
        </p:nvSpPr>
        <p:spPr>
          <a:xfrm>
            <a:off x="457200" y="2240280"/>
            <a:ext cx="2651760" cy="1097280"/>
          </a:xfrm>
          <a:prstGeom prst="rect">
            <a:avLst/>
          </a:prstGeom>
          <a:solidFill>
            <a:srgbClr val="F2F5F8"/>
          </a:solidFill>
          <a:ln/>
        </p:spPr>
      </p:sp>
      <p:sp>
        <p:nvSpPr>
          <p:cNvPr id="16" name="Shape 14"/>
          <p:cNvSpPr/>
          <p:nvPr/>
        </p:nvSpPr>
        <p:spPr>
          <a:xfrm>
            <a:off x="457200" y="2240280"/>
            <a:ext cx="64008" cy="1097280"/>
          </a:xfrm>
          <a:prstGeom prst="rect">
            <a:avLst/>
          </a:prstGeom>
          <a:solidFill>
            <a:srgbClr val="0B2545"/>
          </a:solidFill>
          <a:ln/>
        </p:spPr>
      </p:sp>
      <p:sp>
        <p:nvSpPr>
          <p:cNvPr id="17" name="Text 15"/>
          <p:cNvSpPr txBox="1"/>
          <p:nvPr/>
        </p:nvSpPr>
        <p:spPr>
          <a:xfrm>
            <a:off x="640080" y="2313432"/>
            <a:ext cx="237744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Privacy and consent</a:t>
            </a:r>
            <a:endParaRPr lang="en-US" sz="1200" dirty="0"/>
          </a:p>
        </p:txBody>
      </p:sp>
      <p:sp>
        <p:nvSpPr>
          <p:cNvPr id="18" name="Text 16"/>
          <p:cNvSpPr txBox="1"/>
          <p:nvPr/>
        </p:nvSpPr>
        <p:spPr>
          <a:xfrm>
            <a:off x="640080" y="2606040"/>
            <a:ext cx="2377440" cy="68580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Consent and access controls through ABDM; DPDP Rules (fully in force by May 2027).</a:t>
            </a:r>
            <a:endParaRPr lang="en-US" sz="1050" dirty="0"/>
          </a:p>
        </p:txBody>
      </p:sp>
      <p:sp>
        <p:nvSpPr>
          <p:cNvPr id="19" name="Shape 17"/>
          <p:cNvSpPr/>
          <p:nvPr/>
        </p:nvSpPr>
        <p:spPr>
          <a:xfrm>
            <a:off x="3246120" y="2240280"/>
            <a:ext cx="2651760" cy="1097280"/>
          </a:xfrm>
          <a:prstGeom prst="rect">
            <a:avLst/>
          </a:prstGeom>
          <a:solidFill>
            <a:srgbClr val="F2F5F8"/>
          </a:solidFill>
          <a:ln/>
        </p:spPr>
      </p:sp>
      <p:sp>
        <p:nvSpPr>
          <p:cNvPr id="20" name="Shape 18"/>
          <p:cNvSpPr/>
          <p:nvPr/>
        </p:nvSpPr>
        <p:spPr>
          <a:xfrm>
            <a:off x="3246120" y="2240280"/>
            <a:ext cx="64008" cy="1097280"/>
          </a:xfrm>
          <a:prstGeom prst="rect">
            <a:avLst/>
          </a:prstGeom>
          <a:solidFill>
            <a:srgbClr val="0B2545"/>
          </a:solidFill>
          <a:ln/>
        </p:spPr>
      </p:sp>
      <p:sp>
        <p:nvSpPr>
          <p:cNvPr id="21" name="Text 19"/>
          <p:cNvSpPr txBox="1"/>
          <p:nvPr/>
        </p:nvSpPr>
        <p:spPr>
          <a:xfrm>
            <a:off x="3429000" y="2313432"/>
            <a:ext cx="237744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Rules for medical AI</a:t>
            </a:r>
            <a:endParaRPr lang="en-US" sz="1200" dirty="0"/>
          </a:p>
        </p:txBody>
      </p:sp>
      <p:sp>
        <p:nvSpPr>
          <p:cNvPr id="22" name="Text 20"/>
          <p:cNvSpPr txBox="1"/>
          <p:nvPr/>
        </p:nvSpPr>
        <p:spPr>
          <a:xfrm>
            <a:off x="3429000" y="2606040"/>
            <a:ext cx="2377440" cy="68580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CDSCO medical-device-software guidance; ICMR 2023 AI ethics guidelines.</a:t>
            </a:r>
            <a:endParaRPr lang="en-US" sz="1050" dirty="0"/>
          </a:p>
        </p:txBody>
      </p:sp>
      <p:sp>
        <p:nvSpPr>
          <p:cNvPr id="23" name="Shape 21"/>
          <p:cNvSpPr/>
          <p:nvPr/>
        </p:nvSpPr>
        <p:spPr>
          <a:xfrm>
            <a:off x="6035040" y="2240280"/>
            <a:ext cx="2651760" cy="1097280"/>
          </a:xfrm>
          <a:prstGeom prst="rect">
            <a:avLst/>
          </a:prstGeom>
          <a:solidFill>
            <a:srgbClr val="F2F5F8"/>
          </a:solidFill>
          <a:ln/>
        </p:spPr>
      </p:sp>
      <p:sp>
        <p:nvSpPr>
          <p:cNvPr id="24" name="Shape 22"/>
          <p:cNvSpPr/>
          <p:nvPr/>
        </p:nvSpPr>
        <p:spPr>
          <a:xfrm>
            <a:off x="6035040" y="2240280"/>
            <a:ext cx="64008" cy="1097280"/>
          </a:xfrm>
          <a:prstGeom prst="rect">
            <a:avLst/>
          </a:prstGeom>
          <a:solidFill>
            <a:srgbClr val="0B2545"/>
          </a:solidFill>
          <a:ln/>
        </p:spPr>
      </p:sp>
      <p:sp>
        <p:nvSpPr>
          <p:cNvPr id="25" name="Text 23"/>
          <p:cNvSpPr txBox="1"/>
          <p:nvPr/>
        </p:nvSpPr>
        <p:spPr>
          <a:xfrm>
            <a:off x="6217920" y="2313432"/>
            <a:ext cx="2377440" cy="256032"/>
          </a:xfrm>
          <a:prstGeom prst="rect">
            <a:avLst/>
          </a:prstGeom>
          <a:noFill/>
          <a:ln/>
        </p:spPr>
        <p:txBody>
          <a:bodyPr wrap="square" lIns="0" tIns="0" rIns="0" bIns="0" rtlCol="0" anchor="t"/>
          <a:lstStyle/>
          <a:p>
            <a:pPr marL="0" indent="0">
              <a:buNone/>
            </a:pPr>
            <a:r>
              <a:rPr lang="en-US" sz="1200" b="1" dirty="0">
                <a:solidFill>
                  <a:srgbClr val="0B2545"/>
                </a:solidFill>
                <a:latin typeface="Calibri" pitchFamily="34" charset="0"/>
                <a:ea typeface="Calibri" pitchFamily="34" charset="-122"/>
                <a:cs typeface="Calibri" pitchFamily="34" charset="-120"/>
              </a:rPr>
              <a:t>Model drift</a:t>
            </a:r>
            <a:endParaRPr lang="en-US" sz="1200" dirty="0"/>
          </a:p>
        </p:txBody>
      </p:sp>
      <p:sp>
        <p:nvSpPr>
          <p:cNvPr id="26" name="Text 24"/>
          <p:cNvSpPr txBox="1"/>
          <p:nvPr/>
        </p:nvSpPr>
        <p:spPr>
          <a:xfrm>
            <a:off x="6217920" y="2606040"/>
            <a:ext cx="2377440" cy="685800"/>
          </a:xfrm>
          <a:prstGeom prst="rect">
            <a:avLst/>
          </a:prstGeom>
          <a:noFill/>
          <a:ln/>
        </p:spPr>
        <p:txBody>
          <a:bodyPr wrap="square" lIns="0" tIns="0" rIns="0" bIns="0" rtlCol="0" anchor="t"/>
          <a:lstStyle/>
          <a:p>
            <a:pPr marL="0" indent="0">
              <a:buNone/>
            </a:pPr>
            <a:r>
              <a:rPr lang="en-US" sz="1050" dirty="0">
                <a:solidFill>
                  <a:srgbClr val="1B2A3A"/>
                </a:solidFill>
                <a:latin typeface="Calibri" pitchFamily="34" charset="0"/>
                <a:ea typeface="Calibri" pitchFamily="34" charset="-122"/>
                <a:cs typeface="Calibri" pitchFamily="34" charset="-120"/>
              </a:rPr>
              <a:t>Keep monitoring accuracy; retrain and retest when it slips.</a:t>
            </a:r>
            <a:endParaRPr lang="en-US" sz="1050" dirty="0"/>
          </a:p>
        </p:txBody>
      </p:sp>
      <p:sp>
        <p:nvSpPr>
          <p:cNvPr id="27" name="Shape 25"/>
          <p:cNvSpPr/>
          <p:nvPr/>
        </p:nvSpPr>
        <p:spPr>
          <a:xfrm>
            <a:off x="457200" y="3474720"/>
            <a:ext cx="8229600" cy="731520"/>
          </a:xfrm>
          <a:prstGeom prst="rect">
            <a:avLst/>
          </a:prstGeom>
          <a:solidFill>
            <a:srgbClr val="FFF4E0"/>
          </a:solidFill>
          <a:ln/>
        </p:spPr>
      </p:sp>
      <p:sp>
        <p:nvSpPr>
          <p:cNvPr id="28" name="Shape 26"/>
          <p:cNvSpPr/>
          <p:nvPr/>
        </p:nvSpPr>
        <p:spPr>
          <a:xfrm>
            <a:off x="457200" y="3474720"/>
            <a:ext cx="64008" cy="731520"/>
          </a:xfrm>
          <a:prstGeom prst="rect">
            <a:avLst/>
          </a:prstGeom>
          <a:solidFill>
            <a:srgbClr val="E8A33D"/>
          </a:solidFill>
          <a:ln/>
        </p:spPr>
      </p:sp>
      <p:sp>
        <p:nvSpPr>
          <p:cNvPr id="29" name="Text 27"/>
          <p:cNvSpPr txBox="1"/>
          <p:nvPr/>
        </p:nvSpPr>
        <p:spPr>
          <a:xfrm>
            <a:off x="685800" y="3520440"/>
            <a:ext cx="7863840" cy="640080"/>
          </a:xfrm>
          <a:prstGeom prst="rect">
            <a:avLst/>
          </a:prstGeom>
          <a:noFill/>
          <a:ln/>
        </p:spPr>
        <p:txBody>
          <a:bodyPr wrap="square" lIns="0" tIns="0" rIns="0" bIns="0" rtlCol="0" anchor="ctr"/>
          <a:lstStyle/>
          <a:p>
            <a:pPr marL="0" indent="0">
              <a:buNone/>
            </a:pPr>
            <a:r>
              <a:rPr lang="en-US" sz="1100" dirty="0">
                <a:solidFill>
                  <a:srgbClr val="1B2A3A"/>
                </a:solidFill>
                <a:latin typeface="Calibri" pitchFamily="34" charset="0"/>
                <a:ea typeface="Calibri" pitchFamily="34" charset="-122"/>
                <a:cs typeface="Calibri" pitchFamily="34" charset="-120"/>
              </a:rPr>
              <a:t>Costs and limits: devices, connectivity, staff training, maintenance and regulatory approval. No reliable public figures exist, so we quote none. Many facilities are not fully digital, so we start where basic digital X-ray exists.</a:t>
            </a:r>
            <a:endParaRPr lang="en-US" sz="1100" dirty="0"/>
          </a:p>
        </p:txBody>
      </p:sp>
      <p:sp>
        <p:nvSpPr>
          <p:cNvPr id="30" name="Shape 28"/>
          <p:cNvSpPr/>
          <p:nvPr/>
        </p:nvSpPr>
        <p:spPr>
          <a:xfrm>
            <a:off x="457200" y="4297680"/>
            <a:ext cx="8229600" cy="502920"/>
          </a:xfrm>
          <a:prstGeom prst="rect">
            <a:avLst/>
          </a:prstGeom>
          <a:solidFill>
            <a:srgbClr val="13A89E"/>
          </a:solidFill>
          <a:ln/>
        </p:spPr>
      </p:sp>
      <p:sp>
        <p:nvSpPr>
          <p:cNvPr id="31" name="Text 29"/>
          <p:cNvSpPr txBox="1"/>
          <p:nvPr/>
        </p:nvSpPr>
        <p:spPr>
          <a:xfrm>
            <a:off x="640080" y="4297680"/>
            <a:ext cx="7863840" cy="5029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Sunita’s story (hypothetical): her X-ray read sooner, a doctor decides, someone follows up. AI supports; it cannot remove error or guarantee outcomes.</a:t>
            </a:r>
            <a:endParaRPr lang="en-US" sz="1150" dirty="0"/>
          </a:p>
        </p:txBody>
      </p:sp>
    </p:spTree>
  </p:cSld>
  <p:clrMapOvr>
    <a:masterClrMapping/>
  </p:clrMapOvr>
</p:sld>
</file>

<file path=ppt/theme/theme1.xml><?xml version="1.0" encoding="utf-8"?>
<a:theme xmlns:a="http://schemas.openxmlformats.org/drawingml/2006/main" name="India Healthcare Group03">
  <a:themeElements>
    <a:clrScheme name="India Healthcare Group03">
      <a:dk1>
        <a:srgbClr val="1B2A3A"/>
      </a:dk1>
      <a:lt1>
        <a:srgbClr val="FFFFFF"/>
      </a:lt1>
      <a:dk2>
        <a:srgbClr val="0B2545"/>
      </a:dk2>
      <a:lt2>
        <a:srgbClr val="F2F5F8"/>
      </a:lt2>
      <a:accent1>
        <a:srgbClr val="13A89E"/>
      </a:accent1>
      <a:accent2>
        <a:srgbClr val="0B2545"/>
      </a:accent2>
      <a:accent3>
        <a:srgbClr val="E8A33D"/>
      </a:accent3>
      <a:accent4>
        <a:srgbClr val="5B6B7B"/>
      </a:accent4>
      <a:accent5>
        <a:srgbClr val="14355E"/>
      </a:accent5>
      <a:accent6>
        <a:srgbClr val="E3F4F2"/>
      </a:accent6>
      <a:hlink>
        <a:srgbClr val="1565C0"/>
      </a:hlink>
      <a:folHlink>
        <a:srgbClr val="5B6B7B"/>
      </a:folHlink>
    </a:clrScheme>
    <a:fontScheme name="India Healthcare Group03">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3033</Words>
  <Application>Microsoft Office PowerPoint</Application>
  <PresentationFormat>On-screen Show (16:9)</PresentationFormat>
  <Paragraphs>179</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India Healthcare Group03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03 - AI for India’s Healthcare System</dc:title>
  <dc:subject>PptxGenJS Presentation</dc:subject>
  <dc:creator>PptxGenJS</dc:creator>
  <cp:lastModifiedBy>Dev Shah</cp:lastModifiedBy>
  <cp:revision>2</cp:revision>
  <dcterms:created xsi:type="dcterms:W3CDTF">2026-10-18T12:20:13Z</dcterms:created>
  <dcterms:modified xsi:type="dcterms:W3CDTF">2026-10-18T12:27:07Z</dcterms:modified>
</cp:coreProperties>
</file>